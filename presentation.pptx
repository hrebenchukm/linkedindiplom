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530073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1/23</a:t>
            </a:r>
          </a:p>
        </p:txBody>
      </p:sp>
      <p:sp>
        <p:nvSpPr>
          <p:cNvPr id="9" name="Oval 8"/>
          <p:cNvSpPr/>
          <p:nvPr/>
        </p:nvSpPr>
        <p:spPr>
          <a:xfrm>
            <a:off x="9875520" y="502920"/>
            <a:ext cx="1828800" cy="1828800"/>
          </a:xfrm>
          <a:prstGeom prst="ellipse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0" y="2148840"/>
            <a:ext cx="2194560" cy="2194560"/>
          </a:xfrm>
          <a:prstGeom prst="ellipse">
            <a:avLst/>
          </a:prstGeom>
          <a:solidFill>
            <a:srgbClr val="112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868680"/>
            <a:ext cx="1078992" cy="82296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932688"/>
            <a:ext cx="864108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900" b="1">
                <a:solidFill>
                  <a:srgbClr val="FFFFFF"/>
                </a:solidFill>
              </a:defRPr>
            </a:pPr>
            <a:r>
              <a:t>LinkedIn Clone: LinkedIn-like платформа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1737360"/>
            <a:ext cx="8321040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0">
                <a:solidFill>
                  <a:srgbClr val="CBD5E1"/>
                </a:solidFill>
              </a:defRPr>
            </a:pPr>
            <a:r>
              <a:t>Frontend-частина дипломного проєкту професійного нетворкінгу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29968" y="2743200"/>
            <a:ext cx="9052560" cy="30632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93392" y="2697480"/>
            <a:ext cx="9052560" cy="30632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2944368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Формат звіту: кожен слайд пояснює причину вибору рішення та результат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3456432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Проєкт: full-stack LinkedIn-like платформа з інтеграцією frontend ↔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968496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Frontend розробники: Ямчук Тимур, Андрій Ротарь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480560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Стек: React 19, Vite 6, ASP.NET Core, PostgreSQL, JWT, SignalR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4992624"/>
            <a:ext cx="8275320" cy="43891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0">
                <a:solidFill>
                  <a:srgbClr val="EEF2F7"/>
                </a:solidFill>
              </a:defRPr>
            </a:pPr>
            <a:r>
              <a:t>Demo на захисті: andrii.rotar@gmail.com, admin@local.dev, verify:e2e 17/17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6014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1. Звіт: Вступ: чому саме LinkedIn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536192"/>
            <a:ext cx="6400800" cy="16002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</a:defRPr>
            </a:pPr>
            <a:r>
              <a:t>Обґрунтування рішення: LinkedIn обрано як найсильнішу модель, бо він поєднує професійний профіль, мережу контактів, контент, вакансії та комунікацію.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46136" y="1463040"/>
            <a:ext cx="2880360" cy="274320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09560" y="1417320"/>
            <a:ext cx="2880360" cy="274320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783080"/>
            <a:ext cx="2240280" cy="105156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7000" b="1">
                <a:solidFill>
                  <a:srgbClr val="C4B5FD"/>
                </a:solidFill>
              </a:defRPr>
            </a:pPr>
            <a: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80360"/>
            <a:ext cx="2240280" cy="64008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основних розділів об'єднані в одному сайті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6" y="3502151"/>
            <a:ext cx="6720840" cy="19385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8680" y="3456432"/>
            <a:ext cx="6720840" cy="1938528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5568" y="37673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44168" y="3675887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Причина вибору: Це не просто сайт з вакансіями, а повна професійна екосистема для кандидата, роботодавця і спільнот.</a:t>
            </a:r>
          </a:p>
        </p:txBody>
      </p:sp>
      <p:sp>
        <p:nvSpPr>
          <p:cNvPr id="28" name="Oval 27"/>
          <p:cNvSpPr/>
          <p:nvPr/>
        </p:nvSpPr>
        <p:spPr>
          <a:xfrm>
            <a:off x="1115568" y="427939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4168" y="4187952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Обране рішення: Такий формат дозволяє показати більше дипломної роботи: UI, маршрути, клієнтські стани та користувацькі сценарії.</a:t>
            </a:r>
          </a:p>
        </p:txBody>
      </p:sp>
      <p:sp>
        <p:nvSpPr>
          <p:cNvPr id="30" name="Oval 29"/>
          <p:cNvSpPr/>
          <p:nvPr/>
        </p:nvSpPr>
        <p:spPr>
          <a:xfrm>
            <a:off x="1115568" y="479145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44168" y="4700016"/>
            <a:ext cx="5669280" cy="47548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Реалізація: На захисті показуємо live-flow через реальний API: вхід → профіль → стрічка → мережа → вакансії → чати.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83879" y="4526280"/>
            <a:ext cx="2331720" cy="5029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66175" y="4645152"/>
            <a:ext cx="2148840" cy="2286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MVP для захисту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59022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2. Звіт: Файлова структура проєкту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Фокус доповіді — frontend SPA; backend показано лише для розуміння масштабу системи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18488"/>
            <a:ext cx="6720840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572768"/>
            <a:ext cx="6720840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1682495"/>
            <a:ext cx="6391655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1">
                <a:solidFill>
                  <a:srgbClr val="38BDF8"/>
                </a:solidFill>
              </a:defRPr>
            </a:pPr>
            <a:r>
              <a:t>frontend/ — наш фокус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" y="195681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frontend/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2240280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├── src/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" y="2523744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app/           router, layout, theme, i18n, transitions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" y="2807208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pages/         auth, home, network, vacancies, messages,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3090672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├── features/      auth, profile, jobs, messaging, network,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337413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│   └── shared/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3657600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├── api/       HTTP-клієnt, tokens, refresh, 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" y="3941064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├── ui/        спільні компоненти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" y="4224528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│       └── lib/       helpers, pagination,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" y="4507992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scripts/verify-e2e.mjs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4791456"/>
            <a:ext cx="6428231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└── package.json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71815" y="1618488"/>
            <a:ext cx="4187952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35240" y="1572768"/>
            <a:ext cx="4187952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99831" y="1682495"/>
            <a:ext cx="3858768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1">
                <a:solidFill>
                  <a:srgbClr val="FB923C"/>
                </a:solidFill>
              </a:defRPr>
            </a:pPr>
            <a:r>
              <a:t>backend/ — контекст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1544" y="1956816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EEF2F7"/>
                </a:solidFill>
              </a:defRPr>
            </a:pPr>
            <a:r>
              <a:t>backend/  (контекст масштабу)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2240280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Identity · Profile · Professional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1544" y="2523744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Network · Content · Messaging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81544" y="2807208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├── Jobs · Events · Notifications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81544" y="3090672"/>
            <a:ext cx="3895344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19" b="0">
                <a:solidFill>
                  <a:srgbClr val="94A3B8"/>
                </a:solidFill>
              </a:defRPr>
            </a:pPr>
            <a:r>
              <a:t>└── Facade.API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9808" y="5577840"/>
            <a:ext cx="11109960" cy="5669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13232" y="5532120"/>
            <a:ext cx="11109960" cy="5669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650992"/>
            <a:ext cx="10652760" cy="3474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EEF2F7"/>
                </a:solidFill>
              </a:defRPr>
            </a:pPr>
            <a:r>
              <a:t>Структура з реального репозиторію: React SPA розбито на pages, features, app та shared.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212029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4/23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3. Звіт: Порівняння з конкретними конкурентами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1627632"/>
            <a:ext cx="5321808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1344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4768" y="1627632"/>
            <a:ext cx="5321808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1627632"/>
            <a:ext cx="532180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27632"/>
            <a:ext cx="5321808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</a:defRPr>
            </a:pPr>
            <a:r>
              <a:t>Стан у конкурентів: Що є у Work.ua, LinkedIn, Djinni, Robota.ua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Наше рішення: Чого бракує там, але є у LinkedIn Clone</a:t>
            </a:r>
          </a:p>
        </p:txBody>
      </p:sp>
      <p:sp>
        <p:nvSpPr>
          <p:cNvPr id="27" name="Oval 26"/>
          <p:cNvSpPr/>
          <p:nvPr/>
        </p:nvSpPr>
        <p:spPr>
          <a:xfrm>
            <a:off x="1097280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Work.ua: сильний пошук вакансій, фільтри, резюме та відгуки, але фокус переважно на job-board сценарії.</a:t>
            </a:r>
          </a:p>
        </p:txBody>
      </p:sp>
      <p:sp>
        <p:nvSpPr>
          <p:cNvPr id="29" name="Oval 28"/>
          <p:cNvSpPr/>
          <p:nvPr/>
        </p:nvSpPr>
        <p:spPr>
          <a:xfrm>
            <a:off x="1097280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LinkedIn: сильна глобальна мережа, профіль, контент і вакансії, але продукт перевантажений для локального навчального MVP.</a:t>
            </a:r>
          </a:p>
        </p:txBody>
      </p:sp>
      <p:sp>
        <p:nvSpPr>
          <p:cNvPr id="31" name="Oval 30"/>
          <p:cNvSpPr/>
          <p:nvPr/>
        </p:nvSpPr>
        <p:spPr>
          <a:xfrm>
            <a:off x="1097280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Djinni: зручний IT-рекрутинг і анонімний профіль, але вузький фокус на наймі без широких спільнот і стрічки.</a:t>
            </a:r>
          </a:p>
        </p:txBody>
      </p:sp>
      <p:sp>
        <p:nvSpPr>
          <p:cNvPr id="33" name="Oval 32"/>
          <p:cNvSpPr/>
          <p:nvPr/>
        </p:nvSpPr>
        <p:spPr>
          <a:xfrm>
            <a:off x="1097280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25880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Robota.ua: багато вакансій, резюме і роботодавців, але менше соціальної взаємодії, чатів і професійного контенту.</a:t>
            </a:r>
          </a:p>
        </p:txBody>
      </p:sp>
      <p:sp>
        <p:nvSpPr>
          <p:cNvPr id="35" name="Oval 34"/>
          <p:cNvSpPr/>
          <p:nvPr/>
        </p:nvSpPr>
        <p:spPr>
          <a:xfrm>
            <a:off x="6519672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У LinkedIn Clone вакансії не ізольовані: вони пов'язані з профілем, чатами, контактами і загальним шляхом кандидата.</a:t>
            </a:r>
          </a:p>
        </p:txBody>
      </p:sp>
      <p:sp>
        <p:nvSpPr>
          <p:cNvPr id="37" name="Oval 36"/>
          <p:cNvSpPr/>
          <p:nvPr/>
        </p:nvSpPr>
        <p:spPr>
          <a:xfrm>
            <a:off x="6519672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48272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LinkedIn Clone бере логіку LinkedIn, але показує її у компактному MVP, де кожен модуль зрозумілий на захисті.</a:t>
            </a:r>
          </a:p>
        </p:txBody>
      </p:sp>
      <p:sp>
        <p:nvSpPr>
          <p:cNvPr id="39" name="Oval 38"/>
          <p:cNvSpPr/>
          <p:nvPr/>
        </p:nvSpPr>
        <p:spPr>
          <a:xfrm>
            <a:off x="6519672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8272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У LinkedIn Clone є не тільки найм, а й контент, groups/pages/events, глобальний пошук і особистий кабінет.</a:t>
            </a:r>
          </a:p>
        </p:txBody>
      </p:sp>
      <p:sp>
        <p:nvSpPr>
          <p:cNvPr id="41" name="Oval 40"/>
          <p:cNvSpPr/>
          <p:nvPr/>
        </p:nvSpPr>
        <p:spPr>
          <a:xfrm>
            <a:off x="6519672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Наш сайт об'єднує job-board, професійну соцмережу і внутрішню комунікацію в одному frontend-сценарії.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2650368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5/23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4. Звіт: Переваги UX нашого сайту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висновок: Реалізовано в поточній версії сайту на гілці merger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8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6112" y="1947672"/>
            <a:ext cx="480060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Єдиний UX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одна навігація для всіх сценаріїв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4175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599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803903" y="1947672"/>
            <a:ext cx="480060" cy="384048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9392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Dark/Light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79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перемикання теми через CSS variables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01968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65392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11696" y="1947672"/>
            <a:ext cx="480060" cy="38404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87183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i18n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4 мови інтерфейсу в runtime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1828800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473184" y="178308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19488" y="1947672"/>
            <a:ext cx="480060" cy="384048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94976" y="196596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Картки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3" y="2441448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зрозуміла структура контенту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6384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49808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96112" y="3410712"/>
            <a:ext cx="480060" cy="384048"/>
          </a:xfrm>
          <a:prstGeom prst="roundRect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Анімації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AnimatedOutlet — плавні переходи сторінок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94175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57599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3803903" y="3410712"/>
            <a:ext cx="480060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79392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Пошук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40479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HeaderSearch по профілях і контенту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01968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565392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11696" y="3410712"/>
            <a:ext cx="480060" cy="384048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87183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Live 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8272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JWT, REST, refresh, SignalR messaging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09759" y="3291839"/>
            <a:ext cx="2615184" cy="117043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473184" y="3246120"/>
            <a:ext cx="2615184" cy="1170432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619488" y="3410712"/>
            <a:ext cx="480060" cy="384048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94976" y="3429000"/>
            <a:ext cx="1810512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EEF2F7"/>
                </a:solidFill>
              </a:defRPr>
            </a:pPr>
            <a:r>
              <a:t>E2E verify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6063" y="3904487"/>
            <a:ext cx="2249424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94A3B8"/>
                </a:solidFill>
              </a:defRPr>
            </a:pPr>
            <a:r>
              <a:t>Рішення: 17 автоматичних smoke-тестів інтеграції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88136" y="5074920"/>
            <a:ext cx="10058400" cy="74980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051560" y="5029200"/>
            <a:ext cx="10058400" cy="74980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34440" y="5175504"/>
            <a:ext cx="969264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Єдиний UX: темна/світла тема, 4 мови, плавні переходи та live backend API.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4" dur="45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6" dur="45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8" dur="45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9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0" dur="450"/>
                            <p:tgtEl>
                              <p:spTgt spid="37"/>
                            </p:tgtEl>
                          </p:cBhvr>
                        </p:animEffect>
                      </p:childTnLst>
                    </p:cTn>
                  </p:par>
                  <p:par>
                    <p:cTn id="11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2" dur="450"/>
                            <p:tgtEl>
                              <p:spTgt spid="42"/>
                            </p:tgtEl>
                          </p:cBhvr>
                        </p:animEffect>
                      </p:childTnLst>
                    </p:cTn>
                  </p:par>
                  <p:par>
                    <p:cTn id="13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4" dur="450"/>
                            <p:tgtEl>
                              <p:spTgt spid="47"/>
                            </p:tgtEl>
                          </p:cBhvr>
                        </p:animEffect>
                      </p:childTnLst>
                    </p:cTn>
                  </p:par>
                  <p:par>
                    <p:cTn id="15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6" dur="450"/>
                            <p:tgtEl>
                              <p:spTgt spid="52"/>
                            </p:tgtEl>
                          </p:cBhvr>
                        </p:animEffect>
                      </p:childTnLst>
                    </p:cTn>
                  </p:par>
                  <p:par>
                    <p:cTn id="17" presetID="10" presetClass="entr" presetSubtype="0" fill="hold" nodeType="clickEffect">
                      <p:stCondLst>
                        <p:cond delay="indefinite"/>
                      </p:stCondLst>
                      <p:childTnLst>
                        <p:animEffect transition="in" filter="fade">
                          <p:cBhvr>
                            <p:cTn id="18" dur="450"/>
                            <p:tgtEl>
                              <p:spTgt spid="5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3180442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6/23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5. Звіт: Що є у конкурентів і що додано у нас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" y="1627632"/>
            <a:ext cx="5321808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1344" y="1673352"/>
            <a:ext cx="5321808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44768" y="1627632"/>
            <a:ext cx="5321808" cy="45262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1627632"/>
            <a:ext cx="5321808" cy="64008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1627632"/>
            <a:ext cx="5321808" cy="64008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B923C"/>
                </a:solidFill>
              </a:defRPr>
            </a:pPr>
            <a:r>
              <a:t>Стан у конкурентів: У конкурентів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3952" y="1847088"/>
            <a:ext cx="4069080" cy="7498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34D399"/>
                </a:solidFill>
              </a:defRPr>
            </a:pPr>
            <a:r>
              <a:t>Наше рішення: У нашому LinkedIn Clone</a:t>
            </a:r>
          </a:p>
        </p:txBody>
      </p:sp>
      <p:sp>
        <p:nvSpPr>
          <p:cNvPr id="27" name="Oval 26"/>
          <p:cNvSpPr/>
          <p:nvPr/>
        </p:nvSpPr>
        <p:spPr>
          <a:xfrm>
            <a:off x="1097280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25880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Вакансії існують окремо від соціальної активності кандидата.</a:t>
            </a:r>
          </a:p>
        </p:txBody>
      </p:sp>
      <p:sp>
        <p:nvSpPr>
          <p:cNvPr id="29" name="Oval 28"/>
          <p:cNvSpPr/>
          <p:nvPr/>
        </p:nvSpPr>
        <p:spPr>
          <a:xfrm>
            <a:off x="1097280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25880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Пошук роботи часто не пов'язаний з чатами та мережею контактів.</a:t>
            </a:r>
          </a:p>
        </p:txBody>
      </p:sp>
      <p:sp>
        <p:nvSpPr>
          <p:cNvPr id="31" name="Oval 30"/>
          <p:cNvSpPr/>
          <p:nvPr/>
        </p:nvSpPr>
        <p:spPr>
          <a:xfrm>
            <a:off x="1097280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Демонстраційні проєкти нерідко залишаються статичними макетами.</a:t>
            </a:r>
          </a:p>
        </p:txBody>
      </p:sp>
      <p:sp>
        <p:nvSpPr>
          <p:cNvPr id="33" name="Oval 32"/>
          <p:cNvSpPr/>
          <p:nvPr/>
        </p:nvSpPr>
        <p:spPr>
          <a:xfrm>
            <a:off x="1097280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25880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Аналіз: Інтерфейс не завжди показує повний шлях користувача від входу до дії.</a:t>
            </a:r>
          </a:p>
        </p:txBody>
      </p:sp>
      <p:sp>
        <p:nvSpPr>
          <p:cNvPr id="35" name="Oval 34"/>
          <p:cNvSpPr/>
          <p:nvPr/>
        </p:nvSpPr>
        <p:spPr>
          <a:xfrm>
            <a:off x="6519672" y="2788920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48272" y="2697480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Користувач шукає роботу, веде профіль, читає контент і спілкується в одному місці.</a:t>
            </a:r>
          </a:p>
        </p:txBody>
      </p:sp>
      <p:sp>
        <p:nvSpPr>
          <p:cNvPr id="37" name="Oval 36"/>
          <p:cNvSpPr/>
          <p:nvPr/>
        </p:nvSpPr>
        <p:spPr>
          <a:xfrm>
            <a:off x="6519672" y="3630168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48272" y="3538728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Вакансії, контакти та повідомлення об'єднані в логічний кандидатський сценарій.</a:t>
            </a:r>
          </a:p>
        </p:txBody>
      </p:sp>
      <p:sp>
        <p:nvSpPr>
          <p:cNvPr id="39" name="Oval 38"/>
          <p:cNvSpPr/>
          <p:nvPr/>
        </p:nvSpPr>
        <p:spPr>
          <a:xfrm>
            <a:off x="6519672" y="4471416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48272" y="4379976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Frontend підключений до Facade.API: auth, profile, feed, network, jobs, messaging.</a:t>
            </a:r>
          </a:p>
        </p:txBody>
      </p:sp>
      <p:sp>
        <p:nvSpPr>
          <p:cNvPr id="41" name="Oval 40"/>
          <p:cNvSpPr/>
          <p:nvPr/>
        </p:nvSpPr>
        <p:spPr>
          <a:xfrm>
            <a:off x="6519672" y="531266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48272" y="5221224"/>
            <a:ext cx="3703320" cy="8046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Перевага: На захисті показуємо live-flow: login → profile → feed → network → vacancies → messages.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371051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6. Звіт: Компонентна структура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Кожен блок — ізольований React-модуль з власною логікою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73352"/>
            <a:ext cx="5074920" cy="41605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627632"/>
            <a:ext cx="5074920" cy="41605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1828800"/>
            <a:ext cx="438912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</a:defRPr>
            </a:pPr>
            <a:r>
              <a:t>Дерево папок 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217627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frontend/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487168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├── src/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798064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app/           router, layout, theme, i18n, transitions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108960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pages/         auth, home, network, vacancies, messages, admin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419856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├── features/      auth, profile, jobs, messaging, network, content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73075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EEF2F7"/>
                </a:solidFill>
              </a:defRPr>
            </a:pPr>
            <a:r>
              <a:t>│   └── shared/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041648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├── api/       HTTP-клієnt, tokens, refresh, paths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352544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├── ui/        спільні компоненти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663440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│       └── lib/       helpers, pagination, session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4974336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├── scripts/verify-e2e.mjs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5285232"/>
            <a:ext cx="466344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└── package.json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89904" y="1673352"/>
            <a:ext cx="5486400" cy="41605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053328" y="1627632"/>
            <a:ext cx="5486400" cy="416052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1828800"/>
            <a:ext cx="49377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C4B5FD"/>
                </a:solidFill>
              </a:defRPr>
            </a:pPr>
            <a:r>
              <a:t>Ізольовані React-модулі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224942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7104" y="2212848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pages/ — auth, home, network, vacancies, messages, notifications, admin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2907791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2871215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features/ — API-виклики, mappers, enrich* для профілів і постів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91072" y="356616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47104" y="3529584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app/ — router, AppContext, Layout, theme, i18n, page transitions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91072" y="4224528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4187952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shared/api/ — http, tokens, refresh при 401, централізовані paths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488289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47104" y="4846320"/>
            <a:ext cx="4736592" cy="6217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Модуль: AppContext — auth, account, profile в одному провайдері замість legacy stores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49808" y="5577840"/>
            <a:ext cx="10835640" cy="5669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13232" y="5532120"/>
            <a:ext cx="10835640" cy="5669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5650992"/>
            <a:ext cx="10424160" cy="34747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50" b="0">
                <a:solidFill>
                  <a:srgbClr val="EEF2F7"/>
                </a:solidFill>
              </a:defRPr>
            </a:pPr>
            <a:r>
              <a:t>Архітектура: Код розбито за папками так, щоб модулі не залежали один від одного напряму.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4240589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8/23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7. Звіт: Архітектура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Frontend: AppContext, REST API, SignalR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4944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0A66C2"/>
                </a:solidFill>
              </a:defRPr>
            </a:pPr>
            <a:r>
              <a:t>React/Vite SPA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UI, routing, компоненти, theme, i18n</a:t>
            </a:r>
          </a:p>
        </p:txBody>
      </p:sp>
      <p:sp>
        <p:nvSpPr>
          <p:cNvPr id="24" name="Chevron 23"/>
          <p:cNvSpPr/>
          <p:nvPr/>
        </p:nvSpPr>
        <p:spPr>
          <a:xfrm>
            <a:off x="2761487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08376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971800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2968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</a:defRPr>
            </a:pPr>
            <a:r>
              <a:t>AppContext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auth, account, profile, token refresh</a:t>
            </a:r>
          </a:p>
        </p:txBody>
      </p:sp>
      <p:sp>
        <p:nvSpPr>
          <p:cNvPr id="29" name="Chevron 28"/>
          <p:cNvSpPr/>
          <p:nvPr/>
        </p:nvSpPr>
        <p:spPr>
          <a:xfrm>
            <a:off x="5074920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21808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85232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0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API client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REST + JWT + auto refresh при 401</a:t>
            </a:r>
          </a:p>
        </p:txBody>
      </p:sp>
      <p:sp>
        <p:nvSpPr>
          <p:cNvPr id="34" name="Chevron 33"/>
          <p:cNvSpPr/>
          <p:nvPr/>
        </p:nvSpPr>
        <p:spPr>
          <a:xfrm>
            <a:off x="7388352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635240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598664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99832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Facade.API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BFF: auth, profile, content, network, jobs, messaging</a:t>
            </a:r>
          </a:p>
        </p:txBody>
      </p:sp>
      <p:sp>
        <p:nvSpPr>
          <p:cNvPr id="39" name="Chevron 38"/>
          <p:cNvSpPr/>
          <p:nvPr/>
        </p:nvSpPr>
        <p:spPr>
          <a:xfrm>
            <a:off x="9701784" y="2587752"/>
            <a:ext cx="164592" cy="502920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948672" y="1947672"/>
            <a:ext cx="2057400" cy="1874519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12096" y="1901952"/>
            <a:ext cx="2057400" cy="1874519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13264" y="2176272"/>
            <a:ext cx="1655064" cy="45720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FB923C"/>
                </a:solidFill>
              </a:defRPr>
            </a:pPr>
            <a:r>
              <a:t>SignalR + E2E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94976" y="2770632"/>
            <a:ext cx="1691640" cy="5029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Чому обрано: realtime чати, verify:e2e 17/17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2416" y="4690872"/>
            <a:ext cx="10149840" cy="9601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05840" y="4645152"/>
            <a:ext cx="10149840" cy="96012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25880" y="4901184"/>
            <a:ext cx="9601200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0">
                <a:solidFill>
                  <a:srgbClr val="EEF2F7"/>
                </a:solidFill>
              </a:defRPr>
            </a:pPr>
            <a:r>
              <a:t>Результат рішення: Frontend і backend працюють як одна система: SPA викликає REST API, SignalR для messaging, PostgreSQL на сервері.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4770663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9/23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8. Звіт: Маршрутизація 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React Router 7, ProtectedRoute, JWT-сесія та live API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1673352"/>
            <a:ext cx="10652760" cy="45262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86384" y="1627632"/>
            <a:ext cx="10652760" cy="45262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15568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5024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/auth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5024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login, register, Google/Facebook OAuth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2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ProtectedRoute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5152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захист /app/* маршрутів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35824" y="19751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80" y="22037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AppContext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55280" y="26334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account, profile, token refresh при завантаженні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15568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35024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/app/*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5024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home, network, vacancies, messages, profile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25696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2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AnimatedOutlet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плавні fade-переходи між сторінками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5824" y="3803904"/>
            <a:ext cx="2834640" cy="135331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0" y="4032504"/>
            <a:ext cx="242316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800" b="1">
                <a:solidFill>
                  <a:srgbClr val="C4B5FD"/>
                </a:solidFill>
              </a:defRPr>
            </a:pPr>
            <a:r>
              <a:t>redirect / → /app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462272"/>
            <a:ext cx="2423160" cy="40233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Роль у рішенні: стартовий сценарій після входу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530073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9. Звіт: Live-flow для захисту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Social demo, mock-дані, без live API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Login (JWT)</a:t>
            </a:r>
          </a:p>
        </p:txBody>
      </p:sp>
      <p:sp>
        <p:nvSpPr>
          <p:cNvPr id="22" name="Chevron 21"/>
          <p:cNvSpPr/>
          <p:nvPr/>
        </p:nvSpPr>
        <p:spPr>
          <a:xfrm>
            <a:off x="1700784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70632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9696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Профіль</a:t>
            </a:r>
          </a:p>
        </p:txBody>
      </p:sp>
      <p:sp>
        <p:nvSpPr>
          <p:cNvPr id="25" name="Chevron 24"/>
          <p:cNvSpPr/>
          <p:nvPr/>
        </p:nvSpPr>
        <p:spPr>
          <a:xfrm>
            <a:off x="3648456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718304" y="2331720"/>
            <a:ext cx="822960" cy="822960"/>
          </a:xfrm>
          <a:prstGeom prst="ellipse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87368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Стрічка</a:t>
            </a:r>
          </a:p>
        </p:txBody>
      </p:sp>
      <p:sp>
        <p:nvSpPr>
          <p:cNvPr id="28" name="Chevron 27"/>
          <p:cNvSpPr/>
          <p:nvPr/>
        </p:nvSpPr>
        <p:spPr>
          <a:xfrm>
            <a:off x="5596128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65976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Мережа</a:t>
            </a:r>
          </a:p>
        </p:txBody>
      </p:sp>
      <p:sp>
        <p:nvSpPr>
          <p:cNvPr id="31" name="Chevron 30"/>
          <p:cNvSpPr/>
          <p:nvPr/>
        </p:nvSpPr>
        <p:spPr>
          <a:xfrm>
            <a:off x="7543800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613648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82712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Вакансії</a:t>
            </a:r>
          </a:p>
        </p:txBody>
      </p:sp>
      <p:sp>
        <p:nvSpPr>
          <p:cNvPr id="34" name="Chevron 33"/>
          <p:cNvSpPr/>
          <p:nvPr/>
        </p:nvSpPr>
        <p:spPr>
          <a:xfrm>
            <a:off x="9491472" y="2587752"/>
            <a:ext cx="1014983" cy="310896"/>
          </a:xfrm>
          <a:prstGeom prst="chevron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561319" y="2331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300984"/>
            <a:ext cx="2084831" cy="530352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100" b="0">
                <a:solidFill>
                  <a:srgbClr val="EEF2F7"/>
                </a:solidFill>
              </a:defRPr>
            </a:pPr>
            <a:r>
              <a:t>Чати (SignalR)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79576" y="4846320"/>
            <a:ext cx="9829800" cy="82296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143000" y="4800600"/>
            <a:ext cx="9829800" cy="82296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17320" y="4956048"/>
            <a:ext cx="9281160" cy="38404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0">
                <a:solidFill>
                  <a:srgbClr val="EEF2F7"/>
                </a:solidFill>
              </a:defRPr>
            </a:pPr>
            <a:r>
              <a:t>Звітний результат: На захисті показуємо live-сценарій: backend localhost:5000, frontend localhost:5173, demo-акаунт andrii.rotar@gmail.com.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5830810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11/23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10. Звіт: Адмін-панель платформи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61872"/>
            <a:ext cx="10424160" cy="29260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Звітний огляд: Окремий UI-контур /admin для модерації та керування LinkedIn Clone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1673352"/>
            <a:ext cx="3182112" cy="37673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1627632"/>
            <a:ext cx="3182112" cy="3767328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1810512"/>
            <a:ext cx="2743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C4B5FD"/>
                </a:solidFill>
              </a:defRPr>
            </a:pPr>
            <a:r>
              <a:t>Доступ і архітектура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212848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2176272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/admin/* → RequireAuth + RequireAdmin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88950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2852928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JWT role Admin (user.isAdmin)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56616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432" y="3529584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Без ролі — AdminForbiddenPage (403)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4281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4206240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AdminLayout: sidebar з 7 розділами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91947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" y="4882896"/>
            <a:ext cx="2496312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EEF2F7"/>
                </a:solidFill>
              </a:defRPr>
            </a:pPr>
            <a:r>
              <a:t>adminApi.js → /api/admin/*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78224" y="1673352"/>
            <a:ext cx="7790688" cy="3767328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041648" y="1627632"/>
            <a:ext cx="7790688" cy="3767328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1810512"/>
            <a:ext cx="41148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00" b="1">
                <a:solidFill>
                  <a:srgbClr val="38BDF8"/>
                </a:solidFill>
              </a:defRPr>
            </a:pPr>
            <a:r>
              <a:t>Розділи admin-панелі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87952" y="2231136"/>
            <a:ext cx="342900" cy="2743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2249424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2249424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stats: users, posts, vacancies,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39728" y="224942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87952" y="2633472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187952" y="2706624"/>
            <a:ext cx="342900" cy="274320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53712" y="2724912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Users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2724912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list, filters, lock/unlock, roles, create user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39728" y="272491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87952" y="3108960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87952" y="3182112"/>
            <a:ext cx="342900" cy="274320"/>
          </a:xfrm>
          <a:prstGeom prst="roundRect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53712" y="3200400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Content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6440" y="3200400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постів: search, delete/restore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28" y="3200400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87952" y="3584448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187952" y="3657600"/>
            <a:ext cx="342900" cy="274320"/>
          </a:xfrm>
          <a:prstGeom prst="roundRect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53712" y="3675887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Comments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06440" y="3675887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коментарів до постів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539728" y="3675887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87952" y="4059936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187952" y="4133087"/>
            <a:ext cx="342900" cy="274320"/>
          </a:xfrm>
          <a:prstGeom prst="roundRect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JB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53712" y="4151376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Jobs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06440" y="4151376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вакансій + recommended queries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39728" y="415137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187952" y="4535424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4187952" y="4608576"/>
            <a:ext cx="342900" cy="274320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53712" y="4626864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Events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06440" y="4626864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moderation подій: delete/restore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39728" y="4626864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87952" y="5010912"/>
            <a:ext cx="7479792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87952" y="5084064"/>
            <a:ext cx="342900" cy="274320"/>
          </a:xfrm>
          <a:prstGeom prst="round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53712" y="5102352"/>
            <a:ext cx="12344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1">
                <a:solidFill>
                  <a:srgbClr val="EEF2F7"/>
                </a:solidFill>
              </a:defRPr>
            </a:pPr>
            <a:r>
              <a:t>Roles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06440" y="5102352"/>
            <a:ext cx="5669280" cy="32918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ролі User/Admin у drawer користувача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39728" y="5102352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9808" y="5550407"/>
            <a:ext cx="11109960" cy="53035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13232" y="5504688"/>
            <a:ext cx="11109960" cy="53035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5614416"/>
            <a:ext cx="10698480" cy="31089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0">
                <a:solidFill>
                  <a:srgbClr val="EEF2F7"/>
                </a:solidFill>
              </a:defRPr>
            </a:pPr>
            <a:r>
              <a:t>Результат: Admin-панель працює з реальним backend: admin@local.dev, JWT role Admin, /api/admin/* endpoints.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636088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11. Звіт: Розподіл frontend-роботи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58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893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893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1993392"/>
            <a:ext cx="22402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1993392"/>
            <a:ext cx="26974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057400"/>
            <a:ext cx="192024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Ямчук Тимур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057400"/>
            <a:ext cx="265176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Андрій Ротарь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Вікно реєстрації та auth UX.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Сторінка вакансій і пошук роботи.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75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4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Чати, дизайн і особистий кабінет.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453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Головний екран і динамічна контентна стрічка (Feed).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Архітектура Network: контакти, groups, pages, events.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Зона відповідальності: API-клієнт, інтеграція з backend і E2E verify (17/17).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6890958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12. Звіт: Ямчук Тимур: вікно реєстрації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Auth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реєстрація, login, ініціалізація сесії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Реєстрація є першою точкою входу користувача в платформу.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Login/register через `/api/auth/*` з JWT access + refresh tokens.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Google і Facebook OAuth кнопки; demo: andrii.rotar@gmail.com / LinkUpDemo2024!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AppContext зберігає account і profile після входу; auto refresh токена.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Auth-екран узгоджений з темною/світлою темою та i18n.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742103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14/23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13. Звіт: Ямчук Тимур: сторінка вакансій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Jobs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список, картки, фільтри, apply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Сторінка вакансій реалізує один з головних сценаріїв LinkedIn-like платформи.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Список вакансій завантажується з `/api/jobs/vacancies` — реальні дані з backend.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AI-рекомендації в sidebar: підбір за навичками профілю (Java, PostgreSQL) + VacancyDetailModal.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Фільтри, збереження вакансій і apply flow підключені до jobs API.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Кнопки «Детальніше» та «Бути серед кандидатів» — повний сценарій відгуку.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795110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15/23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14. Звіт: Ямчук Тимур: пошук роботи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фільтри, запит, релевантні вакансії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Пошук роботи робить модуль вакансій корисним для щоденного сценарію кандидата.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Реалізовано фільтрацію вакансій за ключовими параметрами.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Опрацьовано сценарій, коли результатів немає або користувач змінює запит.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Пошук допомагає швидко перейти від загального списку до релевантних вакансій.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Цей блок підсилює головну перевагу сайту: вакансії пов'язані з профілем і комунікацією.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8481179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16/23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15. Звіт: Ямчук Тимур: чати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Chat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діалоги, unread, UI mock AI/WebRTC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Чати додають платформі внутрішню комунікацію без переходу в сторонні месенджери.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MessageFiltersModal: фільтри Unread, Contacts, Favorites, Spam, Archive, Drafts.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SignalR hub для realtime повідомлень; unread, archive, mute, delete, share posts.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AI assistant session з quick prompts; VoiceCallOverlay — UI-демо дзвінків.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Чати інтегровані з network: відкриття діалогу з картки контакту.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9011252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17/23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16. Звіт: Ямчук Тимур: дизайн і особистий кабінет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Profile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кабінет, avatar, skills, resume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Особистий кабінет і дизайн формують завершене враження від frontend-частини.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Профіль синхронізується з `/api/profile/me`: headline, bio, avatar upload/delete.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Skills, experience, education — CRUD через professional API; demo skills seeder.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ProfileCompletion ring, resume upload, public profile `/app/profile/:userId`.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Dark/light theme, i18n (uk/en/de/es) — єдиний візуальний стиль платформи.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9541326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18/23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17. Звіт: Андрій Ротарь: головний екран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Home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стрічка, навігація, швидкий доступ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Головний екран задає перше враження і веде користувача до основних розділів платформи.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Створено структуру home-сторінки з фокусом на професійний контент.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Додано швидкий доступ до мережі, вакансій, повідомлень і профілю.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Головний екран працює як стартова точка після авторизації.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Навігація допомагає показати сайт як цілісну платформу.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071400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19/23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18. Звіт: Андрій Ротарь: контентна стрічка (Feed)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34D399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Feed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пости, реакції, коментарі, providers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Feed — найскладніша frontend-частина: динамічні пости, реакції та оновлення стану.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Пости завантажуються з content API; enrichPostsWithAuthors для імен і аватарів.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Реакції, коментарі, share menu, PostViewRecorder — повний engagement flow.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CreatePost modal з rich text і media; hashtags following panel.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Стрічка оновлюється без reload через API + локальний state.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0601474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19. Звіт: Андрій Ротарь: архітектура 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FB923C"/>
          </a:solidFill>
          <a:ln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контакти, groups, pages,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Network: контакти, запити, suggestions і вкладка «Активність» з events.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Вкладки «Нові контакти» та «Активність»: incoming/outgoing requests, people you may know.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EventPanel: фільтри All/Upcoming/Online/In-person, discover events з API.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AddContactSearch, ManageNetworkModal, networkPageCache для плавного UX.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Groups, pages, company/event routes — `/app/groups/:id`, `/app/event/:id`.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C4B5FD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141824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1131547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21/23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20. Звіт: Андрій Ротарь: API-клієнт і backend-інтеграція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6119" y="1417320"/>
            <a:ext cx="2880360" cy="100584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9543" y="1371600"/>
            <a:ext cx="2880360" cy="100584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35847" y="1499616"/>
            <a:ext cx="365760" cy="365760"/>
          </a:xfrm>
          <a:prstGeom prst="ellipse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4143" y="1545336"/>
            <a:ext cx="274320" cy="274320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700" b="1">
                <a:solidFill>
                  <a:srgbClr val="34D399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6471" y="1536192"/>
            <a:ext cx="1920239" cy="292608"/>
          </a:xfrm>
          <a:prstGeom prst="rect">
            <a:avLst/>
          </a:prstGeom>
          <a:noFill/>
        </p:spPr>
        <p:txBody>
          <a:bodyPr wrap="square" lIns="36576" rIns="36576" tIns="27432" bIns="27432" anchor="ctr">
            <a:spAutoFit/>
          </a:bodyPr>
          <a:lstStyle/>
          <a:p>
            <a:pPr algn="ctr">
              <a:defRPr sz="1300" b="1">
                <a:solidFill>
                  <a:srgbClr val="EEF2F7"/>
                </a:solidFill>
              </a:defRPr>
            </a:pPr>
            <a:r>
              <a:t>Api-Клієнт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5847" y="1901952"/>
            <a:ext cx="2587752" cy="420624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50" b="0">
                <a:solidFill>
                  <a:srgbClr val="94A3B8"/>
                </a:solidFill>
              </a:defRPr>
            </a:pPr>
            <a:r>
              <a:t>api-клієнт і backend-інтеграція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1600200"/>
            <a:ext cx="7775143" cy="8412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Обґрунтування рішення: Frontend підключений до Facade.API — auth, profile, content, network, jobs, messaging.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5256" y="2743200"/>
            <a:ext cx="10469880" cy="269748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" y="2697480"/>
            <a:ext cx="10469880" cy="269748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152144" y="3090672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80744" y="2999232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Причина вибору: http.js: Bearer token, auto refresh при 401, централізовані paths і error handling.</a:t>
            </a:r>
          </a:p>
        </p:txBody>
      </p:sp>
      <p:sp>
        <p:nvSpPr>
          <p:cNvPr id="30" name="Oval 29"/>
          <p:cNvSpPr/>
          <p:nvPr/>
        </p:nvSpPr>
        <p:spPr>
          <a:xfrm>
            <a:off x="1152144" y="3621024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744" y="3529584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Обране рішення: verify-e2e.mjs: 17 автоматичних smoke-тестів (auth, profile, feed, network, jobs, chats).</a:t>
            </a:r>
          </a:p>
        </p:txBody>
      </p:sp>
      <p:sp>
        <p:nvSpPr>
          <p:cNvPr id="32" name="Oval 31"/>
          <p:cNvSpPr/>
          <p:nvPr/>
        </p:nvSpPr>
        <p:spPr>
          <a:xfrm>
            <a:off x="1152144" y="4151375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80744" y="4059935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Реалізація: SignalR messaging hub; enrich* helpers для профілів у постах, чатах, notifications.</a:t>
            </a:r>
          </a:p>
        </p:txBody>
      </p:sp>
      <p:sp>
        <p:nvSpPr>
          <p:cNvPr id="34" name="Oval 33"/>
          <p:cNvSpPr/>
          <p:nvPr/>
        </p:nvSpPr>
        <p:spPr>
          <a:xfrm>
            <a:off x="1152144" y="4681727"/>
            <a:ext cx="109728" cy="109728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80744" y="4590288"/>
            <a:ext cx="9601200" cy="493775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80" b="0">
                <a:solidFill>
                  <a:srgbClr val="EEF2F7"/>
                </a:solidFill>
              </a:defRPr>
            </a:pPr>
            <a:r>
              <a:t>Результат: Docker Compose: Postgres + API :5000 + Vite :5173 — відтворюваний demo-стек.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1661621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22/23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786384"/>
            <a:ext cx="1097280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1">
                <a:solidFill>
                  <a:srgbClr val="EEF2F7"/>
                </a:solidFill>
              </a:defRPr>
            </a:pPr>
            <a:r>
              <a:t>21. Звіт: Висновок по frontend-роботі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5896" y="1828800"/>
            <a:ext cx="5440680" cy="4617720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89320" y="1783080"/>
            <a:ext cx="5440680" cy="4617720"/>
          </a:xfrm>
          <a:prstGeom prst="roundRect">
            <a:avLst/>
          </a:prstGeom>
          <a:solidFill>
            <a:srgbClr val="121A2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89320" y="1783080"/>
            <a:ext cx="5440680" cy="4572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0120" y="1993392"/>
            <a:ext cx="22402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1993392"/>
            <a:ext cx="2697480" cy="347472"/>
          </a:xfrm>
          <a:prstGeom prst="roundRect">
            <a:avLst/>
          </a:prstGeom>
          <a:solidFill>
            <a:srgbClr val="2A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2057400"/>
            <a:ext cx="192024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Причина / виконання: Що реалізовано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057400"/>
            <a:ext cx="265176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Результат / висновок: Практичний результат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6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04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Full-stack MVP: UI + REST API + JWT + SignalR + PostgreSQL.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26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75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704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Два зони відповідальності: кандидатський UX (Тимур) і контент/мережа/API-клієнт (Андрій).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75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04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Звіт: E2E verify 17/17, admin panel, AI job recommendations, message filters.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0488" y="237744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45352" y="250545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28232" y="245059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Це працездатний LinkedIn-like продукт, а не статичний макет.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0488" y="364236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45352" y="3770375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71551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Frontend і backend інтегровані на гілці merger — live demo на захисті.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90488" y="4907280"/>
            <a:ext cx="5029200" cy="1173480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45352" y="5035296"/>
            <a:ext cx="64008" cy="917448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28232" y="4980432"/>
            <a:ext cx="4617720" cy="111861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50" b="0">
                <a:solidFill>
                  <a:srgbClr val="EEF2F7"/>
                </a:solidFill>
              </a:defRPr>
            </a:pPr>
            <a:r>
              <a:t>Висновок: Roadmap: events seeding, OAuth production, integration tests.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46920" y="320040"/>
            <a:ext cx="2286000" cy="2286000"/>
          </a:xfrm>
          <a:prstGeom prst="ellipse">
            <a:avLst/>
          </a:prstGeom>
          <a:solidFill>
            <a:srgbClr val="122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20040" y="4983480"/>
            <a:ext cx="1417320" cy="1417320"/>
          </a:xfrm>
          <a:prstGeom prst="ellipse">
            <a:avLst/>
          </a:prstGeom>
          <a:solidFill>
            <a:srgbClr val="161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0080"/>
            <a:ext cx="12191695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18872"/>
            <a:ext cx="420624" cy="384048"/>
          </a:xfrm>
          <a:prstGeom prst="roundRect">
            <a:avLst/>
          </a:prstGeom>
          <a:solidFill>
            <a:srgbClr val="0A66C2"/>
          </a:solidFill>
          <a:ln>
            <a:solidFill>
              <a:srgbClr val="0A66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173736"/>
            <a:ext cx="1417320" cy="22860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100" b="1">
                <a:solidFill>
                  <a:srgbClr val="EEF2F7"/>
                </a:solidFill>
              </a:defRPr>
            </a:pPr>
            <a:r>
              <a:t>LinkedIn Clone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Головна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22776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Мережа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13832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Вакансії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Чат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95944" y="128016"/>
            <a:ext cx="1481328" cy="25603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94A3B8"/>
                </a:solidFill>
              </a:defRPr>
            </a:pPr>
            <a:r>
              <a:t>Профіль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0A66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684264"/>
            <a:ext cx="210312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LinkedIn Diplom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684264"/>
            <a:ext cx="822960" cy="10972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</a:defRPr>
            </a:pPr>
            <a:r>
              <a:t>23/23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234440"/>
            <a:ext cx="10058400" cy="7315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22. Звіт: Підсумок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1965960"/>
            <a:ext cx="9738360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700" b="0">
                <a:solidFill>
                  <a:srgbClr val="94A3B8"/>
                </a:solidFill>
              </a:defRPr>
            </a:pPr>
            <a:r>
              <a:t>Full-stack MVP з live API — готовий продукт для захисту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53896" y="283463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7320" y="2788920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294436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LinkedIn Clone — full-stack професійна екосистема: frontend + backend + PostgreSQL.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53896" y="365759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7320" y="3611879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37360" y="376732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На захисті демонструємо live-flow: login → profile → feed → network → jobs → chat.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53896" y="4480559"/>
            <a:ext cx="9326880" cy="621792"/>
          </a:xfrm>
          <a:prstGeom prst="roundRect">
            <a:avLst/>
          </a:prstGeom>
          <a:solidFill>
            <a:srgbClr val="0709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17320" y="4434840"/>
            <a:ext cx="9326880" cy="621792"/>
          </a:xfrm>
          <a:prstGeom prst="roundRect">
            <a:avLst/>
          </a:prstGeom>
          <a:solidFill>
            <a:srgbClr val="1B26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37360" y="4590288"/>
            <a:ext cx="864108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350" b="0">
                <a:solidFill>
                  <a:srgbClr val="EEF2F7"/>
                </a:solidFill>
              </a:defRPr>
            </a:pPr>
            <a:r>
              <a:t>Підсумковий висновок: Головний результат — інтегрований продукт з E2E verify 17/17 і зрозумілим UX.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