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55416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1/22</a:t>
            </a:r>
          </a:p>
        </p:txBody>
      </p:sp>
      <p:sp>
        <p:nvSpPr>
          <p:cNvPr id="9" name="Oval 8"/>
          <p:cNvSpPr/>
          <p:nvPr/>
        </p:nvSpPr>
        <p:spPr>
          <a:xfrm>
            <a:off x="9509760" y="685800"/>
            <a:ext cx="2011680" cy="2011680"/>
          </a:xfrm>
          <a:prstGeom prst="ellipse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2377440"/>
            <a:ext cx="2743200" cy="2743200"/>
          </a:xfrm>
          <a:prstGeom prst="ellipse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868680"/>
            <a:ext cx="1078992" cy="822960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932688"/>
            <a:ext cx="864108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t>LinkedIn Clone: LinkedIn-like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1737360"/>
            <a:ext cx="8321040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900" b="0">
                <a:solidFill>
                  <a:srgbClr val="CBD5E1"/>
                </a:solidFill>
              </a:defRPr>
            </a:pPr>
            <a:r>
              <a:t>Frontend-частина дипломного проєкту професійного нетворкінгу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9968" y="2743200"/>
            <a:ext cx="9052560" cy="30632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93392" y="2697480"/>
            <a:ext cx="9052560" cy="30632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944368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Формат звіту: кожен слайд пояснює причину вибору рішення та 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456432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Проєкт: сайт для професійної взаємодії, пошуку роботи та комунікації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968496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Frontend розробники: Ямчук Тимур, Андрій Ротарь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480560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Стек frontend: React 19, Vite 6, React Router, Context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992624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Інтеграція: REST API, JWT, Swagger, PostgreSQL через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10833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1. Звіт: Вступ: чому саме 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627632"/>
            <a:ext cx="6675120" cy="10515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Обґрунтування рішення: LinkedIn обрано як найсильнішу модель, бо він поєднує професійний профіль, мережу контактів, контент, вакансії та комунікацію.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136" y="1463040"/>
            <a:ext cx="2880360" cy="27432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9560" y="1417320"/>
            <a:ext cx="2880360" cy="274320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2240280" cy="10515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7000" b="1">
                <a:solidFill>
                  <a:srgbClr val="C4B5FD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80360"/>
            <a:ext cx="224028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0">
                <a:solidFill>
                  <a:srgbClr val="EEF2F7"/>
                </a:solidFill>
              </a:defRPr>
            </a:pPr>
            <a:r>
              <a:t>основних розділів об'єднані в одному сайті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" y="3227832"/>
            <a:ext cx="6766560" cy="2148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3182112"/>
            <a:ext cx="6766560" cy="2148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3000" y="3602736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493008"/>
            <a:ext cx="59436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Причина вибору: Це не просто сайт з вакансіями, а повна професійна екосистема для кандидата, роботодавця і спільнот.</a:t>
            </a:r>
          </a:p>
        </p:txBody>
      </p:sp>
      <p:sp>
        <p:nvSpPr>
          <p:cNvPr id="28" name="Oval 27"/>
          <p:cNvSpPr/>
          <p:nvPr/>
        </p:nvSpPr>
        <p:spPr>
          <a:xfrm>
            <a:off x="1143000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059935"/>
            <a:ext cx="59436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Обране рішення: Такий формат дозволяє показати більше дипломної роботи: UI, маршрути, стани, API-інтеграцію і різні сценарії користувача.</a:t>
            </a:r>
          </a:p>
        </p:txBody>
      </p:sp>
      <p:sp>
        <p:nvSpPr>
          <p:cNvPr id="30" name="Oval 29"/>
          <p:cNvSpPr/>
          <p:nvPr/>
        </p:nvSpPr>
        <p:spPr>
          <a:xfrm>
            <a:off x="1143000" y="473659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626864"/>
            <a:ext cx="5943600" cy="5669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Реалізація: Клон LinkedIn добре демонструється на захисті: користувач проходить шлях від реєстрації до пошуку роботи та спілкування.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4526280"/>
            <a:ext cx="2331720" cy="502920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5" y="4645152"/>
            <a:ext cx="2148840" cy="2286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MVP для захисту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662503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3/22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2. Звіт: LinkedIn-підхід проти типових конкурентів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1627632"/>
            <a:ext cx="5321808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1627632"/>
            <a:ext cx="5321808" cy="45262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1627632"/>
            <a:ext cx="5321808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27632"/>
            <a:ext cx="5321808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1956816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</a:defRPr>
            </a:pPr>
            <a:r>
              <a:t>Стан у конкурентів: Що є у конкурентів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1956816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Наше рішення: Що краще у LinkedIn Clone</a:t>
            </a:r>
          </a:p>
        </p:txBody>
      </p:sp>
      <p:sp>
        <p:nvSpPr>
          <p:cNvPr id="27" name="Oval 26"/>
          <p:cNvSpPr/>
          <p:nvPr/>
        </p:nvSpPr>
        <p:spPr>
          <a:xfrm>
            <a:off x="987552" y="265176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2" y="2542032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Job-board дає вакансії, але майже не розвиває професійний профіль користувача.</a:t>
            </a:r>
          </a:p>
        </p:txBody>
      </p:sp>
      <p:sp>
        <p:nvSpPr>
          <p:cNvPr id="29" name="Oval 28"/>
          <p:cNvSpPr/>
          <p:nvPr/>
        </p:nvSpPr>
        <p:spPr>
          <a:xfrm>
            <a:off x="987552" y="332841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6152" y="3218687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Окремі соцмережі мають контент, але не прив'язані до кар'єрного сценарію.</a:t>
            </a:r>
          </a:p>
        </p:txBody>
      </p:sp>
      <p:sp>
        <p:nvSpPr>
          <p:cNvPr id="31" name="Oval 30"/>
          <p:cNvSpPr/>
          <p:nvPr/>
        </p:nvSpPr>
        <p:spPr>
          <a:xfrm>
            <a:off x="987552" y="40050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6152" y="3895344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Месенджери вирішують комунікацію, але знаходяться поза професійною платформою.</a:t>
            </a:r>
          </a:p>
        </p:txBody>
      </p:sp>
      <p:sp>
        <p:nvSpPr>
          <p:cNvPr id="33" name="Oval 32"/>
          <p:cNvSpPr/>
          <p:nvPr/>
        </p:nvSpPr>
        <p:spPr>
          <a:xfrm>
            <a:off x="987552" y="468172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4572000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Багато аналогів показують окремі функції без єдиного користувацького шляху.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265176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7688" y="2542032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Вакансії, профіль, стрічка, мережа, спільноти та чати працюють як одна система.</a:t>
            </a:r>
          </a:p>
        </p:txBody>
      </p:sp>
      <p:sp>
        <p:nvSpPr>
          <p:cNvPr id="37" name="Oval 36"/>
          <p:cNvSpPr/>
          <p:nvPr/>
        </p:nvSpPr>
        <p:spPr>
          <a:xfrm>
            <a:off x="6419088" y="332841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218687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Профіль користувача стає центром: навички, досвід, резюме, avatar і активність.</a:t>
            </a:r>
          </a:p>
        </p:txBody>
      </p:sp>
      <p:sp>
        <p:nvSpPr>
          <p:cNvPr id="39" name="Oval 38"/>
          <p:cNvSpPr/>
          <p:nvPr/>
        </p:nvSpPr>
        <p:spPr>
          <a:xfrm>
            <a:off x="6419088" y="40050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3895344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Комунікація вбудована в сайт, тому користувач не виходить у сторонні сервіси.</a:t>
            </a:r>
          </a:p>
        </p:txBody>
      </p:sp>
      <p:sp>
        <p:nvSpPr>
          <p:cNvPr id="41" name="Oval 40"/>
          <p:cNvSpPr/>
          <p:nvPr/>
        </p:nvSpPr>
        <p:spPr>
          <a:xfrm>
            <a:off x="6419088" y="468172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7688" y="4572000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Frontend пов'язаний з API: auth, profile, jobs, content, network і messaging.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2216671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4/22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3. Звіт: Порівняння з конкретними конкурентами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1627632"/>
            <a:ext cx="5321808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1627632"/>
            <a:ext cx="5321808" cy="45262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1627632"/>
            <a:ext cx="5321808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27632"/>
            <a:ext cx="5321808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1956816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</a:defRPr>
            </a:pPr>
            <a:r>
              <a:t>Стан у конкурентів: Що є у Work.ua, LinkedIn, Djinni, Robota.ua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1956816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Наше рішення: Чого бракує там, але є у LinkedIn Clone</a:t>
            </a:r>
          </a:p>
        </p:txBody>
      </p:sp>
      <p:sp>
        <p:nvSpPr>
          <p:cNvPr id="27" name="Oval 26"/>
          <p:cNvSpPr/>
          <p:nvPr/>
        </p:nvSpPr>
        <p:spPr>
          <a:xfrm>
            <a:off x="987552" y="265176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2" y="2542032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Work.ua: сильний пошук вакансій, фільтри, резюме та відгуки, але фокус переважно на job-board сценарії.</a:t>
            </a:r>
          </a:p>
        </p:txBody>
      </p:sp>
      <p:sp>
        <p:nvSpPr>
          <p:cNvPr id="29" name="Oval 28"/>
          <p:cNvSpPr/>
          <p:nvPr/>
        </p:nvSpPr>
        <p:spPr>
          <a:xfrm>
            <a:off x="987552" y="332841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6152" y="3218687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LinkedIn: сильна глобальна мережа, профіль, контент і вакансії, але продукт перевантажений для локального навчального MVP.</a:t>
            </a:r>
          </a:p>
        </p:txBody>
      </p:sp>
      <p:sp>
        <p:nvSpPr>
          <p:cNvPr id="31" name="Oval 30"/>
          <p:cNvSpPr/>
          <p:nvPr/>
        </p:nvSpPr>
        <p:spPr>
          <a:xfrm>
            <a:off x="987552" y="40050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6152" y="3895344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Djinni: зручний IT-рекрутинг і анонімний профіль, але вузький фокус на наймі без широких спільнот і стрічки.</a:t>
            </a:r>
          </a:p>
        </p:txBody>
      </p:sp>
      <p:sp>
        <p:nvSpPr>
          <p:cNvPr id="33" name="Oval 32"/>
          <p:cNvSpPr/>
          <p:nvPr/>
        </p:nvSpPr>
        <p:spPr>
          <a:xfrm>
            <a:off x="987552" y="468172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4572000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Robota.ua: багато вакансій, резюме і роботодавців, але менше соціальної взаємодії, чатів і професійного контенту.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265176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7688" y="2542032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У LinkedIn Clone вакансії не ізольовані: вони пов'язані з профілем, чатами, контактами і загальним шляхом кандидата.</a:t>
            </a:r>
          </a:p>
        </p:txBody>
      </p:sp>
      <p:sp>
        <p:nvSpPr>
          <p:cNvPr id="37" name="Oval 36"/>
          <p:cNvSpPr/>
          <p:nvPr/>
        </p:nvSpPr>
        <p:spPr>
          <a:xfrm>
            <a:off x="6419088" y="332841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218687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LinkedIn Clone бере логіку LinkedIn, але показує її у компактному MVP, де кожен модуль зрозумілий на захисті.</a:t>
            </a:r>
          </a:p>
        </p:txBody>
      </p:sp>
      <p:sp>
        <p:nvSpPr>
          <p:cNvPr id="39" name="Oval 38"/>
          <p:cNvSpPr/>
          <p:nvPr/>
        </p:nvSpPr>
        <p:spPr>
          <a:xfrm>
            <a:off x="6419088" y="40050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3895344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У LinkedIn Clone є не тільки найм, а й контент, groups/pages/events, глобальний пошук і особистий кабінет.</a:t>
            </a:r>
          </a:p>
        </p:txBody>
      </p:sp>
      <p:sp>
        <p:nvSpPr>
          <p:cNvPr id="41" name="Oval 40"/>
          <p:cNvSpPr/>
          <p:nvPr/>
        </p:nvSpPr>
        <p:spPr>
          <a:xfrm>
            <a:off x="6419088" y="468172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7688" y="4572000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Наш сайт об'єднує job-board, професійну соцмережу і внутрішню комунікацію в одному frontend-сценарії.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2770839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5/22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4. Звіт: Переваги нашого сайту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Звітний висновок: Переваги сформовані з того, що реально реалізовано в інтерфейсі та коді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1965960"/>
            <a:ext cx="530352" cy="347472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Єдиний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одна навігація для всіх сценаріїв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4175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599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22191" y="1965960"/>
            <a:ext cx="530352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Профіль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навички, досвід, резюме, avatar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65392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29983" y="1965960"/>
            <a:ext cx="530352" cy="34747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0064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Вакансії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пошук, фільтри, saved, apply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37776" y="1965960"/>
            <a:ext cx="530352" cy="34747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77856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Контент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стрічка, пости, реакції, коментарі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4400" y="3429000"/>
            <a:ext cx="530352" cy="347472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Мережа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контакти, groups, pages, events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94175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57599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22191" y="3429000"/>
            <a:ext cx="530352" cy="347472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Чати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8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діалоги, unread, AI assistant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01968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65392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29983" y="3429000"/>
            <a:ext cx="530352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Теми та мови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59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dark/light theme, i18n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473184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37776" y="3429000"/>
            <a:ext cx="530352" cy="34747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77856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API-зв'язок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74352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реальні endpoint-и і token flow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8136" y="5074920"/>
            <a:ext cx="10058400" cy="74980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51560" y="5029200"/>
            <a:ext cx="10058400" cy="749808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34440" y="5175504"/>
            <a:ext cx="96926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0">
                <a:solidFill>
                  <a:srgbClr val="EEF2F7"/>
                </a:solidFill>
              </a:defRPr>
            </a:pPr>
            <a:r>
              <a:t>Єдина платформа: користувач не перемикається між окремими сервісами для роботи, контенту та комунікації.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332500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6/22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5. Звіт: Що є у конкурентів і що додано у нас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1627632"/>
            <a:ext cx="5321808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1627632"/>
            <a:ext cx="5321808" cy="45262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1627632"/>
            <a:ext cx="5321808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27632"/>
            <a:ext cx="5321808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1956816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</a:defRPr>
            </a:pPr>
            <a:r>
              <a:t>Стан у конкурентів: У конкурентів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1956816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Наше рішення: У нашому LinkedIn Clone</a:t>
            </a:r>
          </a:p>
        </p:txBody>
      </p:sp>
      <p:sp>
        <p:nvSpPr>
          <p:cNvPr id="27" name="Oval 26"/>
          <p:cNvSpPr/>
          <p:nvPr/>
        </p:nvSpPr>
        <p:spPr>
          <a:xfrm>
            <a:off x="987552" y="265176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2" y="2542032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Вакансії існують окремо від соціальної активності кандидата.</a:t>
            </a:r>
          </a:p>
        </p:txBody>
      </p:sp>
      <p:sp>
        <p:nvSpPr>
          <p:cNvPr id="29" name="Oval 28"/>
          <p:cNvSpPr/>
          <p:nvPr/>
        </p:nvSpPr>
        <p:spPr>
          <a:xfrm>
            <a:off x="987552" y="332841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6152" y="3218687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Пошук роботи часто не пов'язаний з чатами та мережею контактів.</a:t>
            </a:r>
          </a:p>
        </p:txBody>
      </p:sp>
      <p:sp>
        <p:nvSpPr>
          <p:cNvPr id="31" name="Oval 30"/>
          <p:cNvSpPr/>
          <p:nvPr/>
        </p:nvSpPr>
        <p:spPr>
          <a:xfrm>
            <a:off x="987552" y="40050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6152" y="3895344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Демонстраційні проєкти нерідко залишаються статичними макетами.</a:t>
            </a:r>
          </a:p>
        </p:txBody>
      </p:sp>
      <p:sp>
        <p:nvSpPr>
          <p:cNvPr id="33" name="Oval 32"/>
          <p:cNvSpPr/>
          <p:nvPr/>
        </p:nvSpPr>
        <p:spPr>
          <a:xfrm>
            <a:off x="987552" y="468172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4572000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Аналіз: Інтерфейс не завжди показує повний шлях користувача від входу до дії.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265176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7688" y="2542032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Користувач шукає роботу, веде профіль, читає контент і спілкується в одному місці.</a:t>
            </a:r>
          </a:p>
        </p:txBody>
      </p:sp>
      <p:sp>
        <p:nvSpPr>
          <p:cNvPr id="37" name="Oval 36"/>
          <p:cNvSpPr/>
          <p:nvPr/>
        </p:nvSpPr>
        <p:spPr>
          <a:xfrm>
            <a:off x="6419088" y="332841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218687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Вакансії, контакти та повідомлення об'єднані в логічний кандидатський сценарій.</a:t>
            </a:r>
          </a:p>
        </p:txBody>
      </p:sp>
      <p:sp>
        <p:nvSpPr>
          <p:cNvPr id="39" name="Oval 38"/>
          <p:cNvSpPr/>
          <p:nvPr/>
        </p:nvSpPr>
        <p:spPr>
          <a:xfrm>
            <a:off x="6419088" y="40050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3895344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Сайт має API-шар, JWT-сесію, fallback-дані і готовий demo-flow.</a:t>
            </a:r>
          </a:p>
        </p:txBody>
      </p:sp>
      <p:sp>
        <p:nvSpPr>
          <p:cNvPr id="41" name="Oval 40"/>
          <p:cNvSpPr/>
          <p:nvPr/>
        </p:nvSpPr>
        <p:spPr>
          <a:xfrm>
            <a:off x="6419088" y="468172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7688" y="4572000"/>
            <a:ext cx="4434840" cy="6766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Перевага: На захисті можна показати послідовність: auth → profile → feed → jobs → 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387917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7/22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6. Звіт: Що це за сайт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Звітний висновок: LinkedIn Clone — це LinkedIn-like вебплатформа для професійного нетворкінгу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1965960"/>
            <a:ext cx="530352" cy="347472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реєстрація, login, session bootstrap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4175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599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22191" y="1965960"/>
            <a:ext cx="530352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головний екран і стрічка контенту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65392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29983" y="1965960"/>
            <a:ext cx="530352" cy="34747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0064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контакти, спільноти, pages/events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37776" y="1965960"/>
            <a:ext cx="530352" cy="34747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77856" y="194767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Vacancies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404872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вакансії, фільтри, відгуки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4400" y="3429000"/>
            <a:ext cx="530352" cy="347472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Chat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повідомлення та AI-помічник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94175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57599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22191" y="3429000"/>
            <a:ext cx="530352" cy="347472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Profile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8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особистий кабінет користувача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01968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65392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29983" y="3429000"/>
            <a:ext cx="530352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59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глобальний пошук по сутностях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473184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37776" y="3429000"/>
            <a:ext cx="530352" cy="34747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77856" y="3410712"/>
            <a:ext cx="1600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EEF2F7"/>
                </a:solidFill>
              </a:defRPr>
            </a:pPr>
            <a:r>
              <a:t>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74352" y="3867911"/>
            <a:ext cx="2212848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адаптивні картки, теми, анімації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8136" y="5074920"/>
            <a:ext cx="10058400" cy="74980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51560" y="5029200"/>
            <a:ext cx="10058400" cy="749808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34440" y="5175504"/>
            <a:ext cx="96926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0">
                <a:solidFill>
                  <a:srgbClr val="EEF2F7"/>
                </a:solidFill>
              </a:defRPr>
            </a:pPr>
            <a:r>
              <a:t>Єдина платформа: користувач не перемикається між окремими сервісами для роботи, контенту та комунікації.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4433343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8/22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7. Звіт: Архітектура сайту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Основний потік запиту від інтерфейсу до бази даних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0A66C2"/>
                </a:solidFill>
              </a:defRPr>
            </a:pPr>
            <a:r>
              <a:t>React/Vite SPA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сторінки, routing, state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2761487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08376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1800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Providers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auth, profile, network, jobs, chat</a:t>
            </a:r>
          </a:p>
        </p:txBody>
      </p:sp>
      <p:sp>
        <p:nvSpPr>
          <p:cNvPr id="29" name="Chevron 28"/>
          <p:cNvSpPr/>
          <p:nvPr/>
        </p:nvSpPr>
        <p:spPr>
          <a:xfrm>
            <a:off x="5074920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21808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85232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API client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tokens, refresh, errors</a:t>
            </a:r>
          </a:p>
        </p:txBody>
      </p:sp>
      <p:sp>
        <p:nvSpPr>
          <p:cNvPr id="34" name="Chevron 33"/>
          <p:cNvSpPr/>
          <p:nvPr/>
        </p:nvSpPr>
        <p:spPr>
          <a:xfrm>
            <a:off x="7388352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98664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2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Facade.API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1544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REST endpoints для frontend</a:t>
            </a:r>
          </a:p>
        </p:txBody>
      </p:sp>
      <p:sp>
        <p:nvSpPr>
          <p:cNvPr id="39" name="Chevron 38"/>
          <p:cNvSpPr/>
          <p:nvPr/>
        </p:nvSpPr>
        <p:spPr>
          <a:xfrm>
            <a:off x="9701784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48672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12096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3264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4976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дані модулів системи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" y="4690872"/>
            <a:ext cx="10149840" cy="960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5840" y="4645152"/>
            <a:ext cx="10149840" cy="960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25880" y="4901184"/>
            <a:ext cx="96012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Результат рішення: Frontend побудований як SPA: сторінки розділені за сценаріями, стан винесено в providers, а доступ до backend проходить через єдиний API-шар.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4987511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9/22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8. Звіт: З чого складається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SPA з guarded routes, state providers, темною/світлою темою та i18n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673352"/>
            <a:ext cx="10652760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" y="1627632"/>
            <a:ext cx="10652760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15568" y="19751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5024" y="22037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26334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реєстрація, login, social 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19751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22037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26334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стрічка, composer, mini inbox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35824" y="19751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22037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26334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контакти, groups, pages/events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15568" y="38039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35024" y="40325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/vacancies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4622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вакансії, фільтри, apply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38039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40325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/chat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44622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повідомлення, AI assistant, calls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5824" y="38039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40325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/profile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4622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кабінет, avatar, skills, resume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5541679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10/22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9. Звіт: Наскрізний сценарій демонстрації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Демонстраційний шлях користувача на захисті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2139696"/>
            <a:ext cx="1051560" cy="105156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212848"/>
            <a:ext cx="105156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5" y="3374136"/>
            <a:ext cx="1591056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50" b="0">
                <a:solidFill>
                  <a:srgbClr val="EEF2F7"/>
                </a:solidFill>
              </a:defRPr>
            </a:pPr>
            <a:r>
              <a:t>Реєстрація</a:t>
            </a:r>
          </a:p>
        </p:txBody>
      </p:sp>
      <p:sp>
        <p:nvSpPr>
          <p:cNvPr id="23" name="Chevron 22"/>
          <p:cNvSpPr/>
          <p:nvPr/>
        </p:nvSpPr>
        <p:spPr>
          <a:xfrm>
            <a:off x="1828800" y="2432303"/>
            <a:ext cx="347472" cy="438912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32887" y="2139696"/>
            <a:ext cx="1051560" cy="105156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32887" y="2212848"/>
            <a:ext cx="105156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6855" y="3374136"/>
            <a:ext cx="1591056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50" b="0">
                <a:solidFill>
                  <a:srgbClr val="EEF2F7"/>
                </a:solidFill>
              </a:defRPr>
            </a:pPr>
            <a:r>
              <a:t>Профіль</a:t>
            </a:r>
          </a:p>
        </p:txBody>
      </p:sp>
      <p:sp>
        <p:nvSpPr>
          <p:cNvPr id="27" name="Chevron 26"/>
          <p:cNvSpPr/>
          <p:nvPr/>
        </p:nvSpPr>
        <p:spPr>
          <a:xfrm>
            <a:off x="3703320" y="2432303"/>
            <a:ext cx="347472" cy="438912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07407" y="2139696"/>
            <a:ext cx="1051560" cy="105156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7" y="2212848"/>
            <a:ext cx="105156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5" y="3374136"/>
            <a:ext cx="1591056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50" b="0">
                <a:solidFill>
                  <a:srgbClr val="EEF2F7"/>
                </a:solidFill>
              </a:defRPr>
            </a:pPr>
            <a:r>
              <a:t>Стрічка</a:t>
            </a:r>
          </a:p>
        </p:txBody>
      </p:sp>
      <p:sp>
        <p:nvSpPr>
          <p:cNvPr id="31" name="Chevron 30"/>
          <p:cNvSpPr/>
          <p:nvPr/>
        </p:nvSpPr>
        <p:spPr>
          <a:xfrm>
            <a:off x="5577840" y="2432303"/>
            <a:ext cx="347472" cy="438912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81927" y="2139696"/>
            <a:ext cx="1051560" cy="10515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7" y="2212848"/>
            <a:ext cx="105156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5895" y="3374136"/>
            <a:ext cx="1591056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50" b="0">
                <a:solidFill>
                  <a:srgbClr val="EEF2F7"/>
                </a:solidFill>
              </a:defRPr>
            </a:pPr>
            <a:r>
              <a:t>Спільноти</a:t>
            </a:r>
          </a:p>
        </p:txBody>
      </p:sp>
      <p:sp>
        <p:nvSpPr>
          <p:cNvPr id="35" name="Chevron 34"/>
          <p:cNvSpPr/>
          <p:nvPr/>
        </p:nvSpPr>
        <p:spPr>
          <a:xfrm>
            <a:off x="7452359" y="2432303"/>
            <a:ext cx="347472" cy="438912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56448" y="2139696"/>
            <a:ext cx="1051560" cy="10515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8" y="2212848"/>
            <a:ext cx="105156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0416" y="3374136"/>
            <a:ext cx="1591056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50" b="0">
                <a:solidFill>
                  <a:srgbClr val="EEF2F7"/>
                </a:solidFill>
              </a:defRPr>
            </a:pPr>
            <a:r>
              <a:t>Вакансії</a:t>
            </a:r>
          </a:p>
        </p:txBody>
      </p:sp>
      <p:sp>
        <p:nvSpPr>
          <p:cNvPr id="39" name="Chevron 38"/>
          <p:cNvSpPr/>
          <p:nvPr/>
        </p:nvSpPr>
        <p:spPr>
          <a:xfrm>
            <a:off x="9326880" y="2432303"/>
            <a:ext cx="347472" cy="438912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30968" y="2139696"/>
            <a:ext cx="1051560" cy="10515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30968" y="2212848"/>
            <a:ext cx="105156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4936" y="3374136"/>
            <a:ext cx="1591056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50" b="0">
                <a:solidFill>
                  <a:srgbClr val="EEF2F7"/>
                </a:solidFill>
              </a:defRPr>
            </a:pPr>
            <a:r>
              <a:t>Чати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79576" y="4846320"/>
            <a:ext cx="9829800" cy="82296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143000" y="4800600"/>
            <a:ext cx="9829800" cy="82296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17320" y="4956048"/>
            <a:ext cx="928116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0">
                <a:solidFill>
                  <a:srgbClr val="EEF2F7"/>
                </a:solidFill>
              </a:defRPr>
            </a:pPr>
            <a:r>
              <a:t>Звітний результат: Такий порядок дозволяє показати сайт як завершений продукт, а не набір окремих сторінок.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609584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11/22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10. Звіт: Розподіл frontend-роботи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258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1993392"/>
            <a:ext cx="22402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1993392"/>
            <a:ext cx="26974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057400"/>
            <a:ext cx="19202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Ямчук Тимур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057400"/>
            <a:ext cx="265176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Андрій Ротарь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75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Вікно реєстрації та auth UX.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Сторінка вакансій і пошук роботи.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04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Чати, дизайн і особистий кабінет.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453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Головний екран і контент на сайті.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Вкладка спільноти.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53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Злиття backend з frontend.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665001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12/22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11. Звіт: Ямчук Тимур: вікно реєстрації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Реєстрація є першою точкою входу користувача в платформу.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Побудовано зрозумілий auth UX: користувач бачить форму, стани введення та результат дії.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Опрацьовано валідацію полів і повідомлення про помилки, щоб сценарій не виглядав як статичний макет.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Після успішної реєстрації користувач переходить до подальшого користування сайтом.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Auth-екран стилістично узгоджено з іншими частинами платформи.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7204183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13/22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12. Звіт: Ямчук Тимур: сторінка вакансій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Сторінка вакансій реалізує один з головних сценаріїв LinkedIn-like платформи.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Створено список вакансій з картками, основними параметрами і зрозумілою структурою перегляду.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Додано відображення формату роботи, рівня досвіду, локації та інших характеристик вакансії.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Підготовлено сценарії збереження вакансії та відгуку користувача.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Сторінка вписана в загальну навігацію і не виглядає окремим модулем.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7758351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14/22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13. Звіт: Ямчук Тимур: пошук роботи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Пошук роботи робить модуль вакансій корисним для щоденного сценарію кандидата.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Реалізовано фільтрацію вакансій за ключовими параметрами.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Опрацьовано сценарій, коли результатів немає або користувач змінює запит.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Пошук допомагає швидко перейти від загального списку до релевантних вакансій.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Цей блок підсилює головну перевагу сайту: вакансії пов'язані з профілем і комунікацією.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8312519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15/22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14. Звіт: Ямчук Тимур: чати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Чати додають платформі внутрішню комунікацію без переходу в сторонні месенджери.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Створено інтерфейс діалогів, повідомлень і станів unread.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Додано сценарії архівації, mute, видалення повідомлень і share posts.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Реалізовано AI assistant як додаткову демонстраційну функцію для швидких підказок.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Комунікація підтримує ідею LinkedIn-like продукту: робота, контакти і повідомлення в одному місці.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886668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16/22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15. Звіт: Ямчук Тимур: дизайн і особистий кабінет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Особистий кабінет і дизайн формують завершене враження від frontend-частини.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Профіль користувача містить особисті та професійні дані, avatar, skills і resume.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Візуальний стиль узгоджено між auth, vacancies, chat і profile.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Кабінет працює як центр професійної ідентичності користувача.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Дизайн побудований на картках, темній/світлій темі, акцентах і зрозумілій навігації.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942085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17/22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16. Звіт: Андрій Ротарь: головний екран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Головний екран задає перше враження і веде користувача до основних розділів платформи.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Створено структуру home-сторінки з фокусом на професійний контент.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Додано швидкий доступ до мережі, вакансій, повідомлень і профілю.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Головний екран працює як стартова точка після авторизації.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Навігація допомагає показати сайт як цілісну платформу.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9975023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18/22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17. Звіт: Андрій Ротарь: контент на сайті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Контентна стрічка робить платформу живою, а не лише каталогом вакансій.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Реалізовано подачу постів у форматі професійної стрічки.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Додано взаємодії з контентом: реакції, коментарі та оновлення після дій користувача.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Контент підтримує ідею професійної активності та розвитку персонального бренду.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Стрічка логічно пов'язана з профілем, мережею контактів і головною навігацією.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0529191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19/22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18. Звіт: Андрій Ротарь: вкладка спільноти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Спільноти розширюють сайт від пошуку роботи до професійного нетворкінгу.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Вкладка network об'єднує контакти, підписки, групи, сторінки та події.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Користувач може бачити професійне оточення, а не лише список вакансій.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Groups/pages/events підсилюють відмінність LinkedIn Clone від звичайного job-board.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Сторінка спільноти підтримує довгострокову взаємодію користувачів.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1083359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20/22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19. Звіт: Андрій Ротарь: злиття backend з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00200"/>
            <a:ext cx="6309360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Інтеграція з backend перетворює frontend із макета на робочий вебзастосунок.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" y="2807208"/>
            <a:ext cx="6263640" cy="25146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761488"/>
            <a:ext cx="6263640" cy="251460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2144" y="31638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305409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Причина вибору: Налаштовано API-взаємодію для auth, profile, content, network, jobs і messaging.</a:t>
            </a:r>
          </a:p>
        </p:txBody>
      </p:sp>
      <p:sp>
        <p:nvSpPr>
          <p:cNvPr id="24" name="Oval 23"/>
          <p:cNvSpPr/>
          <p:nvPr/>
        </p:nvSpPr>
        <p:spPr>
          <a:xfrm>
            <a:off x="1152144" y="366674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55701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Обране рішення: Frontend працює з token flow: access token, refresh token і session bootstrap.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" y="4169663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4059935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Реалізація: Proxy та API-клієнт дозволяють запускати сайт локально і демонструвати реальні сценарії.</a:t>
            </a:r>
          </a:p>
        </p:txBody>
      </p:sp>
      <p:sp>
        <p:nvSpPr>
          <p:cNvPr id="28" name="Oval 27"/>
          <p:cNvSpPr/>
          <p:nvPr/>
        </p:nvSpPr>
        <p:spPr>
          <a:xfrm>
            <a:off x="1152144" y="467258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4562856"/>
            <a:ext cx="53492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40" b="0">
                <a:solidFill>
                  <a:srgbClr val="EEF2F7"/>
                </a:solidFill>
              </a:defRPr>
            </a:pPr>
            <a:r>
              <a:t>Результат: Fallback-дані залишають демо стабільним, навіть якщо backend недоступний.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1673352"/>
            <a:ext cx="3337560" cy="4389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1627632"/>
            <a:ext cx="3337560" cy="4389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1938528"/>
            <a:ext cx="2788920" cy="347472"/>
          </a:xfrm>
          <a:prstGeom prst="roundRect">
            <a:avLst/>
          </a:prstGeom>
          <a:solidFill>
            <a:srgbClr val="2A406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79" y="2542032"/>
            <a:ext cx="278892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2788920"/>
            <a:ext cx="224028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520440"/>
            <a:ext cx="256032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26679" y="4251960"/>
            <a:ext cx="1965960" cy="475488"/>
          </a:xfrm>
          <a:prstGeom prst="roundRect">
            <a:avLst/>
          </a:prstGeom>
          <a:solidFill>
            <a:srgbClr val="24324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5074920"/>
            <a:ext cx="1371600" cy="310896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246888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</a:defRPr>
            </a:pPr>
            <a:r>
              <a:t>UI mockup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5138928"/>
            <a:ext cx="1234440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163752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21/22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20. Звіт: Висновок по frontend-роботі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258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1993392"/>
            <a:ext cx="22402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1993392"/>
            <a:ext cx="26974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057400"/>
            <a:ext cx="19202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Причина / виконання: Що реалізовано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057400"/>
            <a:ext cx="265176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Результат / висновок: Практичний результат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75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Звіт: Створено основні сторінки LinkedIn-like платформи: auth, home, network, vacancies, chat, profile.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Звіт: Реалізовано користувацькі сценарії: реєстрація, профіль, контент, пошук роботи, чати.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04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Звіт: Інтерфейс об'єднано з API-шаром і підтримкою станів користувача.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453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Висновок: Сайт можна демонструвати як завершений frontend-продукт, а не набір макетів.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Висновок: Кожен учасник frontend-команди має чітку зону виступу на захисті.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53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Висновок: Проєкт показує перевагу LinkedIn-like підходу над простими сайтами вакансій.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25880"/>
            <a:ext cx="3657600" cy="36576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00600"/>
            <a:ext cx="3291840" cy="329184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22/22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234440"/>
            <a:ext cx="1005840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21. Звіт: Підсумок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965960"/>
            <a:ext cx="97383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700" b="0">
                <a:solidFill>
                  <a:srgbClr val="94A3B8"/>
                </a:solidFill>
              </a:defRPr>
            </a:pPr>
            <a:r>
              <a:t>Готовий MVP демонструє повний цикл: інтерфейс, API, дані, безпеку та запуск.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53896" y="2834639"/>
            <a:ext cx="9326880" cy="62179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7320" y="2788920"/>
            <a:ext cx="9326880" cy="62179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2944368"/>
            <a:ext cx="864108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50" b="0">
                <a:solidFill>
                  <a:srgbClr val="EEF2F7"/>
                </a:solidFill>
              </a:defRPr>
            </a:pPr>
            <a:r>
              <a:t>Підсумковий висновок: LinkedIn Clone демонструє професійну платформу з профілем, контентом, мережею, вакансіями та чатами.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3896" y="3657599"/>
            <a:ext cx="9326880" cy="62179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17320" y="3611879"/>
            <a:ext cx="9326880" cy="62179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767328"/>
            <a:ext cx="864108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50" b="0">
                <a:solidFill>
                  <a:srgbClr val="EEF2F7"/>
                </a:solidFill>
              </a:defRPr>
            </a:pPr>
            <a:r>
              <a:t>Підсумковий висновок: Frontend-частина має зрозумілий користувацький шлях і розподіл відповідальності між Тимуром та Андрієм.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53896" y="4480559"/>
            <a:ext cx="9326880" cy="62179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17320" y="4434840"/>
            <a:ext cx="9326880" cy="62179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590288"/>
            <a:ext cx="864108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50" b="0">
                <a:solidFill>
                  <a:srgbClr val="EEF2F7"/>
                </a:solidFill>
              </a:defRPr>
            </a:pPr>
            <a:r>
              <a:t>Підсумковий висновок: Головна перевага проєкту — не окрема функція, а цілісна LinkedIn-like екосистема.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