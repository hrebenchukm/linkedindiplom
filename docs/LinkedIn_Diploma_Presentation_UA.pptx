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46920" y="320040"/>
            <a:ext cx="2286000" cy="2286000"/>
          </a:xfrm>
          <a:prstGeom prst="ellipse">
            <a:avLst/>
          </a:prstGeom>
          <a:solidFill>
            <a:srgbClr val="122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20040" y="4983480"/>
            <a:ext cx="1417320" cy="1417320"/>
          </a:xfrm>
          <a:prstGeom prst="ellipse">
            <a:avLst/>
          </a:prstGeom>
          <a:solidFill>
            <a:srgbClr val="1618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693408"/>
            <a:ext cx="530073" cy="164592"/>
          </a:xfrm>
          <a:prstGeom prst="rect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684264"/>
            <a:ext cx="2103120" cy="10972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</a:defRPr>
            </a:pPr>
            <a:r>
              <a:t>LinkedIn Diplom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684264"/>
            <a:ext cx="822960" cy="10972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r">
              <a:defRPr sz="800" b="0">
                <a:solidFill>
                  <a:srgbClr val="94A3B8"/>
                </a:solidFill>
              </a:defRPr>
            </a:pPr>
            <a:r>
              <a:t>1/23</a:t>
            </a:r>
          </a:p>
        </p:txBody>
      </p:sp>
      <p:sp>
        <p:nvSpPr>
          <p:cNvPr id="9" name="Oval 8"/>
          <p:cNvSpPr/>
          <p:nvPr/>
        </p:nvSpPr>
        <p:spPr>
          <a:xfrm>
            <a:off x="9875520" y="502920"/>
            <a:ext cx="1828800" cy="1828800"/>
          </a:xfrm>
          <a:prstGeom prst="ellipse">
            <a:avLst/>
          </a:prstGeom>
          <a:solidFill>
            <a:srgbClr val="2A4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326880" y="2148840"/>
            <a:ext cx="2194560" cy="2194560"/>
          </a:xfrm>
          <a:prstGeom prst="ellipse">
            <a:avLst/>
          </a:prstGeom>
          <a:solidFill>
            <a:srgbClr val="1125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1792" y="868680"/>
            <a:ext cx="1078992" cy="822960"/>
          </a:xfrm>
          <a:prstGeom prst="roundRect">
            <a:avLst/>
          </a:prstGeom>
          <a:solidFill>
            <a:srgbClr val="0A66C2"/>
          </a:solidFill>
          <a:ln>
            <a:solidFill>
              <a:srgbClr val="0A66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400" b="1">
                <a:solidFill>
                  <a:srgbClr val="FFFFFF"/>
                </a:solidFill>
              </a:defRPr>
            </a:pPr>
            <a:r>
              <a:t>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65960" y="932688"/>
            <a:ext cx="8641080" cy="82296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3900" b="1">
                <a:solidFill>
                  <a:srgbClr val="FFFFFF"/>
                </a:solidFill>
              </a:defRPr>
            </a:pPr>
            <a:r>
              <a:t>LinkedIn Clone: LinkedIn-like платформа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93392" y="1737360"/>
            <a:ext cx="8321040" cy="62179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900" b="0">
                <a:solidFill>
                  <a:srgbClr val="CBD5E1"/>
                </a:solidFill>
              </a:defRPr>
            </a:pPr>
            <a:r>
              <a:t>Frontend-частина дипломного проєкту професійного нетворкінгу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029968" y="2743200"/>
            <a:ext cx="9052560" cy="3063240"/>
          </a:xfrm>
          <a:prstGeom prst="roundRect">
            <a:avLst/>
          </a:prstGeom>
          <a:solidFill>
            <a:srgbClr val="0709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993392" y="2697480"/>
            <a:ext cx="9052560" cy="3063240"/>
          </a:xfrm>
          <a:prstGeom prst="roundRect">
            <a:avLst/>
          </a:prstGeom>
          <a:solidFill>
            <a:srgbClr val="121A2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331720" y="2944368"/>
            <a:ext cx="8275320" cy="43891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400" b="0">
                <a:solidFill>
                  <a:srgbClr val="EEF2F7"/>
                </a:solidFill>
              </a:defRPr>
            </a:pPr>
            <a:r>
              <a:t>Формат звіту: кожен слайд пояснює причину вибору рішення та результат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31720" y="3456432"/>
            <a:ext cx="8275320" cy="43891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400" b="0">
                <a:solidFill>
                  <a:srgbClr val="EEF2F7"/>
                </a:solidFill>
              </a:defRPr>
            </a:pPr>
            <a:r>
              <a:t>Проєкт: сайт для професійної взаємодії, пошуку роботи та комунікації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31720" y="3968496"/>
            <a:ext cx="8275320" cy="43891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400" b="0">
                <a:solidFill>
                  <a:srgbClr val="EEF2F7"/>
                </a:solidFill>
              </a:defRPr>
            </a:pPr>
            <a:r>
              <a:t>Frontend розробники: Ямчук Тимур, Андрій Ротарь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31720" y="4480560"/>
            <a:ext cx="8275320" cy="43891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400" b="0">
                <a:solidFill>
                  <a:srgbClr val="EEF2F7"/>
                </a:solidFill>
              </a:defRPr>
            </a:pPr>
            <a:r>
              <a:t>Стек frontend: React 19, Vite 6, React Router, Context API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31720" y="4992624"/>
            <a:ext cx="8275320" cy="43891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400" b="0">
                <a:solidFill>
                  <a:srgbClr val="EEF2F7"/>
                </a:solidFill>
              </a:defRPr>
            </a:pPr>
            <a:r>
              <a:t>Demo-режим: social demo та mock-дані для стабільної демонстрації на захисті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46920" y="320040"/>
            <a:ext cx="2286000" cy="2286000"/>
          </a:xfrm>
          <a:prstGeom prst="ellipse">
            <a:avLst/>
          </a:prstGeom>
          <a:solidFill>
            <a:srgbClr val="122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20040" y="4983480"/>
            <a:ext cx="1417320" cy="1417320"/>
          </a:xfrm>
          <a:prstGeom prst="ellipse">
            <a:avLst/>
          </a:prstGeom>
          <a:solidFill>
            <a:srgbClr val="1618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0080"/>
            <a:ext cx="1219169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18872"/>
            <a:ext cx="420624" cy="384048"/>
          </a:xfrm>
          <a:prstGeom prst="roundRect">
            <a:avLst/>
          </a:prstGeom>
          <a:solidFill>
            <a:srgbClr val="0A66C2"/>
          </a:solidFill>
          <a:ln>
            <a:solidFill>
              <a:srgbClr val="0A66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" y="173736"/>
            <a:ext cx="1417320" cy="22860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100" b="1">
                <a:solidFill>
                  <a:srgbClr val="EEF2F7"/>
                </a:solidFill>
              </a:defRPr>
            </a:pPr>
            <a:r>
              <a:t>LinkedIn Clone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331720" y="128016"/>
            <a:ext cx="1481328" cy="256032"/>
          </a:xfrm>
          <a:prstGeom prst="roundRect">
            <a:avLst/>
          </a:prstGeom>
          <a:solidFill>
            <a:srgbClr val="1B26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94A3B8"/>
                </a:solidFill>
              </a:defRPr>
            </a:pPr>
            <a:r>
              <a:t>Головна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922776" y="128016"/>
            <a:ext cx="1481328" cy="256032"/>
          </a:xfrm>
          <a:prstGeom prst="roundRect">
            <a:avLst/>
          </a:prstGeom>
          <a:solidFill>
            <a:srgbClr val="1B26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94A3B8"/>
                </a:solidFill>
              </a:defRPr>
            </a:pPr>
            <a:r>
              <a:t>Мережа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513832" y="128016"/>
            <a:ext cx="1481328" cy="256032"/>
          </a:xfrm>
          <a:prstGeom prst="roundRect">
            <a:avLst/>
          </a:prstGeom>
          <a:solidFill>
            <a:srgbClr val="1B26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94A3B8"/>
                </a:solidFill>
              </a:defRPr>
            </a:pPr>
            <a:r>
              <a:t>Вакансії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04888" y="128016"/>
            <a:ext cx="1481328" cy="256032"/>
          </a:xfrm>
          <a:prstGeom prst="roundRect">
            <a:avLst/>
          </a:prstGeom>
          <a:solidFill>
            <a:srgbClr val="1B26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94A3B8"/>
                </a:solidFill>
              </a:defRPr>
            </a:pPr>
            <a:r>
              <a:t>Чат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95944" y="128016"/>
            <a:ext cx="1481328" cy="256032"/>
          </a:xfrm>
          <a:prstGeom prst="roundRect">
            <a:avLst/>
          </a:prstGeom>
          <a:solidFill>
            <a:srgbClr val="1B26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94A3B8"/>
                </a:solidFill>
              </a:defRPr>
            </a:pPr>
            <a:r>
              <a:t>Профіль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6693408"/>
            <a:ext cx="1060147" cy="164592"/>
          </a:xfrm>
          <a:prstGeom prst="rect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6684264"/>
            <a:ext cx="2103120" cy="10972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</a:defRPr>
            </a:pPr>
            <a:r>
              <a:t>LinkedIn Diplom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47120" y="6684264"/>
            <a:ext cx="822960" cy="10972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r">
              <a:defRPr sz="800" b="0">
                <a:solidFill>
                  <a:srgbClr val="94A3B8"/>
                </a:solidFill>
              </a:defRPr>
            </a:pPr>
            <a:r>
              <a:t>2/23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786384"/>
            <a:ext cx="10972800" cy="50292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2400" b="1">
                <a:solidFill>
                  <a:srgbClr val="EEF2F7"/>
                </a:solidFill>
              </a:defRPr>
            </a:pPr>
            <a:r>
              <a:t>1. Звіт: Вступ: чому саме LinkedIn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1536192"/>
            <a:ext cx="6400800" cy="160020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</a:defRPr>
            </a:pPr>
            <a:r>
              <a:t>Обґрунтування рішення: LinkedIn обрано як найсильнішу модель, бо він поєднує професійний профіль, мережу контактів, контент, вакансії та комунікацію.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46136" y="1463040"/>
            <a:ext cx="2880360" cy="2743200"/>
          </a:xfrm>
          <a:prstGeom prst="roundRect">
            <a:avLst/>
          </a:prstGeom>
          <a:solidFill>
            <a:srgbClr val="0709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909560" y="1417320"/>
            <a:ext cx="2880360" cy="2743200"/>
          </a:xfrm>
          <a:prstGeom prst="roundRect">
            <a:avLst/>
          </a:prstGeom>
          <a:solidFill>
            <a:srgbClr val="1B26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0" y="1783080"/>
            <a:ext cx="2240280" cy="105156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>
              <a:defRPr sz="7000" b="1">
                <a:solidFill>
                  <a:srgbClr val="C4B5FD"/>
                </a:solidFill>
              </a:defRPr>
            </a:pPr>
            <a: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2880360"/>
            <a:ext cx="2240280" cy="64008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>
              <a:defRPr sz="1300" b="0">
                <a:solidFill>
                  <a:srgbClr val="EEF2F7"/>
                </a:solidFill>
              </a:defRPr>
            </a:pPr>
            <a:r>
              <a:t>основних розділів об'єднані в одному сайті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5256" y="3502151"/>
            <a:ext cx="6720840" cy="1938528"/>
          </a:xfrm>
          <a:prstGeom prst="roundRect">
            <a:avLst/>
          </a:prstGeom>
          <a:solidFill>
            <a:srgbClr val="0709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68680" y="3456432"/>
            <a:ext cx="6720840" cy="1938528"/>
          </a:xfrm>
          <a:prstGeom prst="roundRect">
            <a:avLst/>
          </a:prstGeom>
          <a:solidFill>
            <a:srgbClr val="121A2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115568" y="3767327"/>
            <a:ext cx="109728" cy="109728"/>
          </a:xfrm>
          <a:prstGeom prst="ellipse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44168" y="3675887"/>
            <a:ext cx="5669280" cy="47548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300" b="0">
                <a:solidFill>
                  <a:srgbClr val="EEF2F7"/>
                </a:solidFill>
              </a:defRPr>
            </a:pPr>
            <a:r>
              <a:t>Причина вибору: Це не просто сайт з вакансіями, а повна професійна екосистема для кандидата, роботодавця і спільнот.</a:t>
            </a:r>
          </a:p>
        </p:txBody>
      </p:sp>
      <p:sp>
        <p:nvSpPr>
          <p:cNvPr id="28" name="Oval 27"/>
          <p:cNvSpPr/>
          <p:nvPr/>
        </p:nvSpPr>
        <p:spPr>
          <a:xfrm>
            <a:off x="1115568" y="4279392"/>
            <a:ext cx="109728" cy="109728"/>
          </a:xfrm>
          <a:prstGeom prst="ellipse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344168" y="4187952"/>
            <a:ext cx="5669280" cy="47548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300" b="0">
                <a:solidFill>
                  <a:srgbClr val="EEF2F7"/>
                </a:solidFill>
              </a:defRPr>
            </a:pPr>
            <a:r>
              <a:t>Обране рішення: Такий формат дозволяє показати більше дипломної роботи: UI, маршрути, клієнтські стани та користувацькі сценарії.</a:t>
            </a:r>
          </a:p>
        </p:txBody>
      </p:sp>
      <p:sp>
        <p:nvSpPr>
          <p:cNvPr id="30" name="Oval 29"/>
          <p:cNvSpPr/>
          <p:nvPr/>
        </p:nvSpPr>
        <p:spPr>
          <a:xfrm>
            <a:off x="1115568" y="4791455"/>
            <a:ext cx="109728" cy="109728"/>
          </a:xfrm>
          <a:prstGeom prst="ellipse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344168" y="4700016"/>
            <a:ext cx="5669280" cy="47548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300" b="0">
                <a:solidFill>
                  <a:srgbClr val="EEF2F7"/>
                </a:solidFill>
              </a:defRPr>
            </a:pPr>
            <a:r>
              <a:t>Реалізація: Клон LinkedIn добре демонструється на захисті через demo-flow: вхід → профіль → стрічка → вакансії → чат.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183879" y="4526280"/>
            <a:ext cx="2331720" cy="502920"/>
          </a:xfrm>
          <a:prstGeom prst="roundRect">
            <a:avLst/>
          </a:prstGeom>
          <a:solidFill>
            <a:srgbClr val="0A66C2"/>
          </a:solidFill>
          <a:ln>
            <a:solidFill>
              <a:srgbClr val="0A66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66175" y="4645152"/>
            <a:ext cx="2148840" cy="22860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MVP для захисту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46920" y="320040"/>
            <a:ext cx="2286000" cy="2286000"/>
          </a:xfrm>
          <a:prstGeom prst="ellipse">
            <a:avLst/>
          </a:prstGeom>
          <a:solidFill>
            <a:srgbClr val="122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20040" y="4983480"/>
            <a:ext cx="1417320" cy="1417320"/>
          </a:xfrm>
          <a:prstGeom prst="ellipse">
            <a:avLst/>
          </a:prstGeom>
          <a:solidFill>
            <a:srgbClr val="1618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0080"/>
            <a:ext cx="1219169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18872"/>
            <a:ext cx="420624" cy="384048"/>
          </a:xfrm>
          <a:prstGeom prst="roundRect">
            <a:avLst/>
          </a:prstGeom>
          <a:solidFill>
            <a:srgbClr val="0A66C2"/>
          </a:solidFill>
          <a:ln>
            <a:solidFill>
              <a:srgbClr val="0A66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" y="173736"/>
            <a:ext cx="1417320" cy="22860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100" b="1">
                <a:solidFill>
                  <a:srgbClr val="EEF2F7"/>
                </a:solidFill>
              </a:defRPr>
            </a:pPr>
            <a:r>
              <a:t>LinkedIn Clone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331720" y="128016"/>
            <a:ext cx="1481328" cy="256032"/>
          </a:xfrm>
          <a:prstGeom prst="roundRect">
            <a:avLst/>
          </a:prstGeom>
          <a:solidFill>
            <a:srgbClr val="1B26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94A3B8"/>
                </a:solidFill>
              </a:defRPr>
            </a:pPr>
            <a:r>
              <a:t>Головна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922776" y="128016"/>
            <a:ext cx="1481328" cy="256032"/>
          </a:xfrm>
          <a:prstGeom prst="roundRect">
            <a:avLst/>
          </a:prstGeom>
          <a:solidFill>
            <a:srgbClr val="1B26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94A3B8"/>
                </a:solidFill>
              </a:defRPr>
            </a:pPr>
            <a:r>
              <a:t>Мережа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513832" y="128016"/>
            <a:ext cx="1481328" cy="256032"/>
          </a:xfrm>
          <a:prstGeom prst="roundRect">
            <a:avLst/>
          </a:prstGeom>
          <a:solidFill>
            <a:srgbClr val="1B26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94A3B8"/>
                </a:solidFill>
              </a:defRPr>
            </a:pPr>
            <a:r>
              <a:t>Вакансії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04888" y="128016"/>
            <a:ext cx="1481328" cy="256032"/>
          </a:xfrm>
          <a:prstGeom prst="roundRect">
            <a:avLst/>
          </a:prstGeom>
          <a:solidFill>
            <a:srgbClr val="1B26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94A3B8"/>
                </a:solidFill>
              </a:defRPr>
            </a:pPr>
            <a:r>
              <a:t>Чат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95944" y="128016"/>
            <a:ext cx="1481328" cy="256032"/>
          </a:xfrm>
          <a:prstGeom prst="roundRect">
            <a:avLst/>
          </a:prstGeom>
          <a:solidFill>
            <a:srgbClr val="1B26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94A3B8"/>
                </a:solidFill>
              </a:defRPr>
            </a:pPr>
            <a:r>
              <a:t>Профіль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6693408"/>
            <a:ext cx="1590221" cy="164592"/>
          </a:xfrm>
          <a:prstGeom prst="rect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6684264"/>
            <a:ext cx="2103120" cy="10972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</a:defRPr>
            </a:pPr>
            <a:r>
              <a:t>LinkedIn Diplom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47120" y="6684264"/>
            <a:ext cx="822960" cy="10972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r">
              <a:defRPr sz="800" b="0">
                <a:solidFill>
                  <a:srgbClr val="94A3B8"/>
                </a:solidFill>
              </a:defRPr>
            </a:pPr>
            <a:r>
              <a:t>3/23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786384"/>
            <a:ext cx="10972800" cy="50292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2400" b="1">
                <a:solidFill>
                  <a:srgbClr val="EEF2F7"/>
                </a:solidFill>
              </a:defRPr>
            </a:pPr>
            <a:r>
              <a:t>2. Звіт: Файлова структура проєкту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1261872"/>
            <a:ext cx="10424160" cy="29260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Звітний огляд: Фокус доповіді — frontend SPA; backend показано лише для розуміння масштабу системи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8" y="1618488"/>
            <a:ext cx="6720840" cy="4526280"/>
          </a:xfrm>
          <a:prstGeom prst="roundRect">
            <a:avLst/>
          </a:prstGeom>
          <a:solidFill>
            <a:srgbClr val="0709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13232" y="1572768"/>
            <a:ext cx="6720840" cy="4526280"/>
          </a:xfrm>
          <a:prstGeom prst="roundRect">
            <a:avLst/>
          </a:prstGeom>
          <a:solidFill>
            <a:srgbClr val="121A2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7824" y="1682495"/>
            <a:ext cx="6391655" cy="219456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200" b="1">
                <a:solidFill>
                  <a:srgbClr val="38BDF8"/>
                </a:solidFill>
              </a:defRPr>
            </a:pPr>
            <a:r>
              <a:t>frontend/ — наш фокус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9536" y="1956816"/>
            <a:ext cx="6428231" cy="25603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000" b="1">
                <a:solidFill>
                  <a:srgbClr val="EEF2F7"/>
                </a:solidFill>
              </a:defRPr>
            </a:pPr>
            <a:r>
              <a:t>frontend/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9536" y="2240280"/>
            <a:ext cx="6428231" cy="25603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000" b="1">
                <a:solidFill>
                  <a:srgbClr val="EEF2F7"/>
                </a:solidFill>
              </a:defRPr>
            </a:pPr>
            <a:r>
              <a:t>├── src/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9536" y="2523744"/>
            <a:ext cx="6428231" cy="25603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919" b="0">
                <a:solidFill>
                  <a:srgbClr val="94A3B8"/>
                </a:solidFill>
              </a:defRPr>
            </a:pPr>
            <a:r>
              <a:t>│   ├── app/           router, providers, layout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9536" y="2807208"/>
            <a:ext cx="6428231" cy="25603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919" b="0">
                <a:solidFill>
                  <a:srgbClr val="94A3B8"/>
                </a:solidFill>
              </a:defRPr>
            </a:pPr>
            <a:r>
              <a:t>│   ├── pages/         auth, home, network, jobs, chat, admin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9536" y="3090672"/>
            <a:ext cx="6428231" cy="25603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919" b="0">
                <a:solidFill>
                  <a:srgbClr val="94A3B8"/>
                </a:solidFill>
              </a:defRPr>
            </a:pPr>
            <a:r>
              <a:t>│   ├── features/      auth, profile, jobs, chat, network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9536" y="3374136"/>
            <a:ext cx="6428231" cy="25603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000" b="1">
                <a:solidFill>
                  <a:srgbClr val="EEF2F7"/>
                </a:solidFill>
              </a:defRPr>
            </a:pPr>
            <a:r>
              <a:t>│   └── shared/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6" y="3657600"/>
            <a:ext cx="6428231" cy="25603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919" b="0">
                <a:solidFill>
                  <a:srgbClr val="94A3B8"/>
                </a:solidFill>
              </a:defRPr>
            </a:pPr>
            <a:r>
              <a:t>│       ├── api/       HTTP-клієнт, paths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9536" y="3941064"/>
            <a:ext cx="6428231" cy="25603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919" b="0">
                <a:solidFill>
                  <a:srgbClr val="94A3B8"/>
                </a:solidFill>
              </a:defRPr>
            </a:pPr>
            <a:r>
              <a:t>│       ├── ui/        спільні компоненти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9536" y="4224528"/>
            <a:ext cx="6428231" cy="25603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919" b="0">
                <a:solidFill>
                  <a:srgbClr val="94A3B8"/>
                </a:solidFill>
              </a:defRPr>
            </a:pPr>
            <a:r>
              <a:t>│       └── lib/       storage, session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9536" y="4507992"/>
            <a:ext cx="6428231" cy="25603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919" b="0">
                <a:solidFill>
                  <a:srgbClr val="94A3B8"/>
                </a:solidFill>
              </a:defRPr>
            </a:pPr>
            <a:r>
              <a:t>├── vite.config.js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9536" y="4791456"/>
            <a:ext cx="6428231" cy="25603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919" b="0">
                <a:solidFill>
                  <a:srgbClr val="94A3B8"/>
                </a:solidFill>
              </a:defRPr>
            </a:pPr>
            <a:r>
              <a:t>└── package.json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671815" y="1618488"/>
            <a:ext cx="4187952" cy="4526280"/>
          </a:xfrm>
          <a:prstGeom prst="roundRect">
            <a:avLst/>
          </a:prstGeom>
          <a:solidFill>
            <a:srgbClr val="0709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7635240" y="1572768"/>
            <a:ext cx="4187952" cy="4526280"/>
          </a:xfrm>
          <a:prstGeom prst="roundRect">
            <a:avLst/>
          </a:prstGeom>
          <a:solidFill>
            <a:srgbClr val="121A2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799831" y="1682495"/>
            <a:ext cx="3858768" cy="219456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200" b="1">
                <a:solidFill>
                  <a:srgbClr val="FB923C"/>
                </a:solidFill>
              </a:defRPr>
            </a:pPr>
            <a:r>
              <a:t>backend/ — контекст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81544" y="1956816"/>
            <a:ext cx="3895344" cy="25603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000" b="1">
                <a:solidFill>
                  <a:srgbClr val="EEF2F7"/>
                </a:solidFill>
              </a:defRPr>
            </a:pPr>
            <a:r>
              <a:t>backend/  (контекст масштабу)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81544" y="2240280"/>
            <a:ext cx="3895344" cy="25603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919" b="0">
                <a:solidFill>
                  <a:srgbClr val="94A3B8"/>
                </a:solidFill>
              </a:defRPr>
            </a:pPr>
            <a:r>
              <a:t>├── Identity · Profile · Professional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81544" y="2523744"/>
            <a:ext cx="3895344" cy="25603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919" b="0">
                <a:solidFill>
                  <a:srgbClr val="94A3B8"/>
                </a:solidFill>
              </a:defRPr>
            </a:pPr>
            <a:r>
              <a:t>├── Network · Content · Messaging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81544" y="2807208"/>
            <a:ext cx="3895344" cy="25603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919" b="0">
                <a:solidFill>
                  <a:srgbClr val="94A3B8"/>
                </a:solidFill>
              </a:defRPr>
            </a:pPr>
            <a:r>
              <a:t>├── Jobs · Events · Notifications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81544" y="3090672"/>
            <a:ext cx="3895344" cy="25603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919" b="0">
                <a:solidFill>
                  <a:srgbClr val="94A3B8"/>
                </a:solidFill>
              </a:defRPr>
            </a:pPr>
            <a:r>
              <a:t>└── Facade.API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49808" y="5577840"/>
            <a:ext cx="11109960" cy="566928"/>
          </a:xfrm>
          <a:prstGeom prst="roundRect">
            <a:avLst/>
          </a:prstGeom>
          <a:solidFill>
            <a:srgbClr val="0709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713232" y="5532120"/>
            <a:ext cx="11109960" cy="566928"/>
          </a:xfrm>
          <a:prstGeom prst="roundRect">
            <a:avLst/>
          </a:prstGeom>
          <a:solidFill>
            <a:srgbClr val="1B26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32688" y="5650992"/>
            <a:ext cx="10652760" cy="34747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050" b="0">
                <a:solidFill>
                  <a:srgbClr val="EEF2F7"/>
                </a:solidFill>
              </a:defRPr>
            </a:pPr>
            <a:r>
              <a:t>Структура з реального репозиторію: React SPA розбито на pages, features, app та shared.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46920" y="320040"/>
            <a:ext cx="2286000" cy="2286000"/>
          </a:xfrm>
          <a:prstGeom prst="ellipse">
            <a:avLst/>
          </a:prstGeom>
          <a:solidFill>
            <a:srgbClr val="122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20040" y="4983480"/>
            <a:ext cx="1417320" cy="1417320"/>
          </a:xfrm>
          <a:prstGeom prst="ellipse">
            <a:avLst/>
          </a:prstGeom>
          <a:solidFill>
            <a:srgbClr val="1618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0080"/>
            <a:ext cx="1219169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18872"/>
            <a:ext cx="420624" cy="384048"/>
          </a:xfrm>
          <a:prstGeom prst="roundRect">
            <a:avLst/>
          </a:prstGeom>
          <a:solidFill>
            <a:srgbClr val="0A66C2"/>
          </a:solidFill>
          <a:ln>
            <a:solidFill>
              <a:srgbClr val="0A66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" y="173736"/>
            <a:ext cx="1417320" cy="22860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100" b="1">
                <a:solidFill>
                  <a:srgbClr val="EEF2F7"/>
                </a:solidFill>
              </a:defRPr>
            </a:pPr>
            <a:r>
              <a:t>LinkedIn Clone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331720" y="128016"/>
            <a:ext cx="1481328" cy="256032"/>
          </a:xfrm>
          <a:prstGeom prst="roundRect">
            <a:avLst/>
          </a:prstGeom>
          <a:solidFill>
            <a:srgbClr val="1B26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94A3B8"/>
                </a:solidFill>
              </a:defRPr>
            </a:pPr>
            <a:r>
              <a:t>Головна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922776" y="128016"/>
            <a:ext cx="1481328" cy="256032"/>
          </a:xfrm>
          <a:prstGeom prst="roundRect">
            <a:avLst/>
          </a:prstGeom>
          <a:solidFill>
            <a:srgbClr val="1B26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94A3B8"/>
                </a:solidFill>
              </a:defRPr>
            </a:pPr>
            <a:r>
              <a:t>Мережа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513832" y="128016"/>
            <a:ext cx="1481328" cy="256032"/>
          </a:xfrm>
          <a:prstGeom prst="roundRect">
            <a:avLst/>
          </a:prstGeom>
          <a:solidFill>
            <a:srgbClr val="1B26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94A3B8"/>
                </a:solidFill>
              </a:defRPr>
            </a:pPr>
            <a:r>
              <a:t>Вакансії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04888" y="128016"/>
            <a:ext cx="1481328" cy="256032"/>
          </a:xfrm>
          <a:prstGeom prst="roundRect">
            <a:avLst/>
          </a:prstGeom>
          <a:solidFill>
            <a:srgbClr val="1B26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94A3B8"/>
                </a:solidFill>
              </a:defRPr>
            </a:pPr>
            <a:r>
              <a:t>Чат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95944" y="128016"/>
            <a:ext cx="1481328" cy="256032"/>
          </a:xfrm>
          <a:prstGeom prst="roundRect">
            <a:avLst/>
          </a:prstGeom>
          <a:solidFill>
            <a:srgbClr val="1B26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94A3B8"/>
                </a:solidFill>
              </a:defRPr>
            </a:pPr>
            <a:r>
              <a:t>Профіль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6693408"/>
            <a:ext cx="2120294" cy="164592"/>
          </a:xfrm>
          <a:prstGeom prst="rect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6684264"/>
            <a:ext cx="2103120" cy="10972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</a:defRPr>
            </a:pPr>
            <a:r>
              <a:t>LinkedIn Diplom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47120" y="6684264"/>
            <a:ext cx="822960" cy="10972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r">
              <a:defRPr sz="800" b="0">
                <a:solidFill>
                  <a:srgbClr val="94A3B8"/>
                </a:solidFill>
              </a:defRPr>
            </a:pPr>
            <a:r>
              <a:t>4/23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786384"/>
            <a:ext cx="10972800" cy="50292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2400" b="1">
                <a:solidFill>
                  <a:srgbClr val="EEF2F7"/>
                </a:solidFill>
              </a:defRPr>
            </a:pPr>
            <a:r>
              <a:t>3. Звіт: Порівняння з конкретними конкурентами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8" y="1673352"/>
            <a:ext cx="5321808" cy="4526280"/>
          </a:xfrm>
          <a:prstGeom prst="roundRect">
            <a:avLst/>
          </a:prstGeom>
          <a:solidFill>
            <a:srgbClr val="0709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13232" y="1627632"/>
            <a:ext cx="5321808" cy="4526280"/>
          </a:xfrm>
          <a:prstGeom prst="roundRect">
            <a:avLst/>
          </a:prstGeom>
          <a:solidFill>
            <a:srgbClr val="121A2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181344" y="1673352"/>
            <a:ext cx="5321808" cy="4526280"/>
          </a:xfrm>
          <a:prstGeom prst="roundRect">
            <a:avLst/>
          </a:prstGeom>
          <a:solidFill>
            <a:srgbClr val="0709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144768" y="1627632"/>
            <a:ext cx="5321808" cy="4526280"/>
          </a:xfrm>
          <a:prstGeom prst="roundRect">
            <a:avLst/>
          </a:prstGeom>
          <a:solidFill>
            <a:srgbClr val="1B26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13232" y="1627632"/>
            <a:ext cx="5321808" cy="64008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44768" y="1627632"/>
            <a:ext cx="5321808" cy="64008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51560" y="1847088"/>
            <a:ext cx="4069080" cy="74980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400" b="1">
                <a:solidFill>
                  <a:srgbClr val="FB923C"/>
                </a:solidFill>
              </a:defRPr>
            </a:pPr>
            <a:r>
              <a:t>Стан у конкурентів: Що є у Work.ua, LinkedIn, Djinni, Robota.ua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73952" y="1847088"/>
            <a:ext cx="4069080" cy="74980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400" b="1">
                <a:solidFill>
                  <a:srgbClr val="34D399"/>
                </a:solidFill>
              </a:defRPr>
            </a:pPr>
            <a:r>
              <a:t>Наше рішення: Чого бракує там, але є у LinkedIn Clone</a:t>
            </a:r>
          </a:p>
        </p:txBody>
      </p:sp>
      <p:sp>
        <p:nvSpPr>
          <p:cNvPr id="27" name="Oval 26"/>
          <p:cNvSpPr/>
          <p:nvPr/>
        </p:nvSpPr>
        <p:spPr>
          <a:xfrm>
            <a:off x="1097280" y="2788920"/>
            <a:ext cx="109728" cy="109728"/>
          </a:xfrm>
          <a:prstGeom prst="ellipse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325880" y="2697480"/>
            <a:ext cx="3703320" cy="80467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150" b="0">
                <a:solidFill>
                  <a:srgbClr val="EEF2F7"/>
                </a:solidFill>
              </a:defRPr>
            </a:pPr>
            <a:r>
              <a:t>Аналіз: Work.ua: сильний пошук вакансій, фільтри, резюме та відгуки, але фокус переважно на job-board сценарії.</a:t>
            </a:r>
          </a:p>
        </p:txBody>
      </p:sp>
      <p:sp>
        <p:nvSpPr>
          <p:cNvPr id="29" name="Oval 28"/>
          <p:cNvSpPr/>
          <p:nvPr/>
        </p:nvSpPr>
        <p:spPr>
          <a:xfrm>
            <a:off x="1097280" y="3630168"/>
            <a:ext cx="109728" cy="109728"/>
          </a:xfrm>
          <a:prstGeom prst="ellipse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325880" y="3538728"/>
            <a:ext cx="3703320" cy="80467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150" b="0">
                <a:solidFill>
                  <a:srgbClr val="EEF2F7"/>
                </a:solidFill>
              </a:defRPr>
            </a:pPr>
            <a:r>
              <a:t>Аналіз: LinkedIn: сильна глобальна мережа, профіль, контент і вакансії, але продукт перевантажений для локального навчального MVP.</a:t>
            </a:r>
          </a:p>
        </p:txBody>
      </p:sp>
      <p:sp>
        <p:nvSpPr>
          <p:cNvPr id="31" name="Oval 30"/>
          <p:cNvSpPr/>
          <p:nvPr/>
        </p:nvSpPr>
        <p:spPr>
          <a:xfrm>
            <a:off x="1097280" y="4471416"/>
            <a:ext cx="109728" cy="109728"/>
          </a:xfrm>
          <a:prstGeom prst="ellipse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325880" y="4379976"/>
            <a:ext cx="3703320" cy="80467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150" b="0">
                <a:solidFill>
                  <a:srgbClr val="EEF2F7"/>
                </a:solidFill>
              </a:defRPr>
            </a:pPr>
            <a:r>
              <a:t>Аналіз: Djinni: зручний IT-рекрутинг і анонімний профіль, але вузький фокус на наймі без широких спільнот і стрічки.</a:t>
            </a:r>
          </a:p>
        </p:txBody>
      </p:sp>
      <p:sp>
        <p:nvSpPr>
          <p:cNvPr id="33" name="Oval 32"/>
          <p:cNvSpPr/>
          <p:nvPr/>
        </p:nvSpPr>
        <p:spPr>
          <a:xfrm>
            <a:off x="1097280" y="5312664"/>
            <a:ext cx="109728" cy="109728"/>
          </a:xfrm>
          <a:prstGeom prst="ellipse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325880" y="5221224"/>
            <a:ext cx="3703320" cy="80467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150" b="0">
                <a:solidFill>
                  <a:srgbClr val="EEF2F7"/>
                </a:solidFill>
              </a:defRPr>
            </a:pPr>
            <a:r>
              <a:t>Аналіз: Robota.ua: багато вакансій, резюме і роботодавців, але менше соціальної взаємодії, чатів і професійного контенту.</a:t>
            </a:r>
          </a:p>
        </p:txBody>
      </p:sp>
      <p:sp>
        <p:nvSpPr>
          <p:cNvPr id="35" name="Oval 34"/>
          <p:cNvSpPr/>
          <p:nvPr/>
        </p:nvSpPr>
        <p:spPr>
          <a:xfrm>
            <a:off x="6519672" y="2788920"/>
            <a:ext cx="109728" cy="109728"/>
          </a:xfrm>
          <a:prstGeom prst="ellipse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748272" y="2697480"/>
            <a:ext cx="3703320" cy="80467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150" b="0">
                <a:solidFill>
                  <a:srgbClr val="EEF2F7"/>
                </a:solidFill>
              </a:defRPr>
            </a:pPr>
            <a:r>
              <a:t>Перевага: У LinkedIn Clone вакансії не ізольовані: вони пов'язані з профілем, чатами, контактами і загальним шляхом кандидата.</a:t>
            </a:r>
          </a:p>
        </p:txBody>
      </p:sp>
      <p:sp>
        <p:nvSpPr>
          <p:cNvPr id="37" name="Oval 36"/>
          <p:cNvSpPr/>
          <p:nvPr/>
        </p:nvSpPr>
        <p:spPr>
          <a:xfrm>
            <a:off x="6519672" y="3630168"/>
            <a:ext cx="109728" cy="109728"/>
          </a:xfrm>
          <a:prstGeom prst="ellipse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748272" y="3538728"/>
            <a:ext cx="3703320" cy="80467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150" b="0">
                <a:solidFill>
                  <a:srgbClr val="EEF2F7"/>
                </a:solidFill>
              </a:defRPr>
            </a:pPr>
            <a:r>
              <a:t>Перевага: LinkedIn Clone бере логіку LinkedIn, але показує її у компактному MVP, де кожен модуль зрозумілий на захисті.</a:t>
            </a:r>
          </a:p>
        </p:txBody>
      </p:sp>
      <p:sp>
        <p:nvSpPr>
          <p:cNvPr id="39" name="Oval 38"/>
          <p:cNvSpPr/>
          <p:nvPr/>
        </p:nvSpPr>
        <p:spPr>
          <a:xfrm>
            <a:off x="6519672" y="4471416"/>
            <a:ext cx="109728" cy="109728"/>
          </a:xfrm>
          <a:prstGeom prst="ellipse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748272" y="4379976"/>
            <a:ext cx="3703320" cy="80467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150" b="0">
                <a:solidFill>
                  <a:srgbClr val="EEF2F7"/>
                </a:solidFill>
              </a:defRPr>
            </a:pPr>
            <a:r>
              <a:t>Перевага: У LinkedIn Clone є не тільки найм, а й контент, groups/pages/events, глобальний пошук і особистий кабінет.</a:t>
            </a:r>
          </a:p>
        </p:txBody>
      </p:sp>
      <p:sp>
        <p:nvSpPr>
          <p:cNvPr id="41" name="Oval 40"/>
          <p:cNvSpPr/>
          <p:nvPr/>
        </p:nvSpPr>
        <p:spPr>
          <a:xfrm>
            <a:off x="6519672" y="5312664"/>
            <a:ext cx="109728" cy="109728"/>
          </a:xfrm>
          <a:prstGeom prst="ellipse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748272" y="5221224"/>
            <a:ext cx="3703320" cy="80467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150" b="0">
                <a:solidFill>
                  <a:srgbClr val="EEF2F7"/>
                </a:solidFill>
              </a:defRPr>
            </a:pPr>
            <a:r>
              <a:t>Перевага: Наш сайт об'єднує job-board, професійну соцмережу і внутрішню комунікацію в одному frontend-сценарії.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46920" y="320040"/>
            <a:ext cx="2286000" cy="2286000"/>
          </a:xfrm>
          <a:prstGeom prst="ellipse">
            <a:avLst/>
          </a:prstGeom>
          <a:solidFill>
            <a:srgbClr val="122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20040" y="4983480"/>
            <a:ext cx="1417320" cy="1417320"/>
          </a:xfrm>
          <a:prstGeom prst="ellipse">
            <a:avLst/>
          </a:prstGeom>
          <a:solidFill>
            <a:srgbClr val="1618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0080"/>
            <a:ext cx="1219169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18872"/>
            <a:ext cx="420624" cy="384048"/>
          </a:xfrm>
          <a:prstGeom prst="roundRect">
            <a:avLst/>
          </a:prstGeom>
          <a:solidFill>
            <a:srgbClr val="0A66C2"/>
          </a:solidFill>
          <a:ln>
            <a:solidFill>
              <a:srgbClr val="0A66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" y="173736"/>
            <a:ext cx="1417320" cy="22860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100" b="1">
                <a:solidFill>
                  <a:srgbClr val="EEF2F7"/>
                </a:solidFill>
              </a:defRPr>
            </a:pPr>
            <a:r>
              <a:t>LinkedIn Clone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331720" y="128016"/>
            <a:ext cx="1481328" cy="256032"/>
          </a:xfrm>
          <a:prstGeom prst="roundRect">
            <a:avLst/>
          </a:prstGeom>
          <a:solidFill>
            <a:srgbClr val="1B26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94A3B8"/>
                </a:solidFill>
              </a:defRPr>
            </a:pPr>
            <a:r>
              <a:t>Головна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922776" y="128016"/>
            <a:ext cx="1481328" cy="256032"/>
          </a:xfrm>
          <a:prstGeom prst="roundRect">
            <a:avLst/>
          </a:prstGeom>
          <a:solidFill>
            <a:srgbClr val="1B26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94A3B8"/>
                </a:solidFill>
              </a:defRPr>
            </a:pPr>
            <a:r>
              <a:t>Мережа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513832" y="128016"/>
            <a:ext cx="1481328" cy="256032"/>
          </a:xfrm>
          <a:prstGeom prst="roundRect">
            <a:avLst/>
          </a:prstGeom>
          <a:solidFill>
            <a:srgbClr val="1B26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94A3B8"/>
                </a:solidFill>
              </a:defRPr>
            </a:pPr>
            <a:r>
              <a:t>Вакансії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04888" y="128016"/>
            <a:ext cx="1481328" cy="256032"/>
          </a:xfrm>
          <a:prstGeom prst="roundRect">
            <a:avLst/>
          </a:prstGeom>
          <a:solidFill>
            <a:srgbClr val="1B26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94A3B8"/>
                </a:solidFill>
              </a:defRPr>
            </a:pPr>
            <a:r>
              <a:t>Чат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95944" y="128016"/>
            <a:ext cx="1481328" cy="256032"/>
          </a:xfrm>
          <a:prstGeom prst="roundRect">
            <a:avLst/>
          </a:prstGeom>
          <a:solidFill>
            <a:srgbClr val="1B26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94A3B8"/>
                </a:solidFill>
              </a:defRPr>
            </a:pPr>
            <a:r>
              <a:t>Профіль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6693408"/>
            <a:ext cx="2650368" cy="164592"/>
          </a:xfrm>
          <a:prstGeom prst="rect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6684264"/>
            <a:ext cx="2103120" cy="10972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</a:defRPr>
            </a:pPr>
            <a:r>
              <a:t>LinkedIn Diplom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47120" y="6684264"/>
            <a:ext cx="822960" cy="10972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r">
              <a:defRPr sz="800" b="0">
                <a:solidFill>
                  <a:srgbClr val="94A3B8"/>
                </a:solidFill>
              </a:defRPr>
            </a:pPr>
            <a:r>
              <a:t>5/23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786384"/>
            <a:ext cx="10972800" cy="50292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2400" b="1">
                <a:solidFill>
                  <a:srgbClr val="EEF2F7"/>
                </a:solidFill>
              </a:defRPr>
            </a:pPr>
            <a:r>
              <a:t>4. Звіт: Переваги UX нашого сайту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1261872"/>
            <a:ext cx="10424160" cy="29260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Звітний висновок: Акцент на зручності інтерфейсу для користувача, а не на backend-інтеграції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6384" y="1828800"/>
            <a:ext cx="2615184" cy="1170432"/>
          </a:xfrm>
          <a:prstGeom prst="roundRect">
            <a:avLst/>
          </a:prstGeom>
          <a:solidFill>
            <a:srgbClr val="0709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49808" y="1783080"/>
            <a:ext cx="2615184" cy="1170432"/>
          </a:xfrm>
          <a:prstGeom prst="roundRect">
            <a:avLst/>
          </a:prstGeom>
          <a:solidFill>
            <a:srgbClr val="121A2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96112" y="1947672"/>
            <a:ext cx="480060" cy="384048"/>
          </a:xfrm>
          <a:prstGeom prst="roundRect">
            <a:avLst/>
          </a:prstGeom>
          <a:solidFill>
            <a:srgbClr val="0A66C2"/>
          </a:solidFill>
          <a:ln>
            <a:solidFill>
              <a:srgbClr val="0A66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UX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1965960"/>
            <a:ext cx="1810512" cy="27432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300" b="1">
                <a:solidFill>
                  <a:srgbClr val="EEF2F7"/>
                </a:solidFill>
              </a:defRPr>
            </a:pPr>
            <a:r>
              <a:t>Єдиний UX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2688" y="2441448"/>
            <a:ext cx="2249424" cy="38404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050" b="0">
                <a:solidFill>
                  <a:srgbClr val="94A3B8"/>
                </a:solidFill>
              </a:defRPr>
            </a:pPr>
            <a:r>
              <a:t>Рішення: одна навігація для всіх сценаріїв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94175" y="1828800"/>
            <a:ext cx="2615184" cy="1170432"/>
          </a:xfrm>
          <a:prstGeom prst="roundRect">
            <a:avLst/>
          </a:prstGeom>
          <a:solidFill>
            <a:srgbClr val="0709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657599" y="1783080"/>
            <a:ext cx="2615184" cy="1170432"/>
          </a:xfrm>
          <a:prstGeom prst="roundRect">
            <a:avLst/>
          </a:prstGeom>
          <a:solidFill>
            <a:srgbClr val="121A2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803903" y="1947672"/>
            <a:ext cx="480060" cy="384048"/>
          </a:xfrm>
          <a:prstGeom prst="roundRect">
            <a:avLst/>
          </a:prstGeom>
          <a:solidFill>
            <a:srgbClr val="8B5CF6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TH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79392" y="1965960"/>
            <a:ext cx="1810512" cy="27432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300" b="1">
                <a:solidFill>
                  <a:srgbClr val="EEF2F7"/>
                </a:solidFill>
              </a:defRPr>
            </a:pPr>
            <a:r>
              <a:t>Dark/Light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840479" y="2441448"/>
            <a:ext cx="2249424" cy="38404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050" b="0">
                <a:solidFill>
                  <a:srgbClr val="94A3B8"/>
                </a:solidFill>
              </a:defRPr>
            </a:pPr>
            <a:r>
              <a:t>Рішення: перемикання теми через CSS variables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601968" y="1828800"/>
            <a:ext cx="2615184" cy="1170432"/>
          </a:xfrm>
          <a:prstGeom prst="roundRect">
            <a:avLst/>
          </a:prstGeom>
          <a:solidFill>
            <a:srgbClr val="0709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565392" y="1783080"/>
            <a:ext cx="2615184" cy="1170432"/>
          </a:xfrm>
          <a:prstGeom prst="roundRect">
            <a:avLst/>
          </a:prstGeom>
          <a:solidFill>
            <a:srgbClr val="121A2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711696" y="1947672"/>
            <a:ext cx="480060" cy="384048"/>
          </a:xfrm>
          <a:prstGeom prst="round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LN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87183" y="1965960"/>
            <a:ext cx="1810512" cy="27432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300" b="1">
                <a:solidFill>
                  <a:srgbClr val="EEF2F7"/>
                </a:solidFill>
              </a:defRPr>
            </a:pPr>
            <a:r>
              <a:t>i18n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48272" y="2441448"/>
            <a:ext cx="2249424" cy="38404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050" b="0">
                <a:solidFill>
                  <a:srgbClr val="94A3B8"/>
                </a:solidFill>
              </a:defRPr>
            </a:pPr>
            <a:r>
              <a:t>Рішення: 4 мови інтерфейсу в runtime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509759" y="1828800"/>
            <a:ext cx="2615184" cy="1170432"/>
          </a:xfrm>
          <a:prstGeom prst="roundRect">
            <a:avLst/>
          </a:prstGeom>
          <a:solidFill>
            <a:srgbClr val="0709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473184" y="1783080"/>
            <a:ext cx="2615184" cy="1170432"/>
          </a:xfrm>
          <a:prstGeom prst="roundRect">
            <a:avLst/>
          </a:prstGeom>
          <a:solidFill>
            <a:srgbClr val="121A2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9619488" y="1947672"/>
            <a:ext cx="480060" cy="384048"/>
          </a:xfrm>
          <a:prstGeom prst="roundRect">
            <a:avLst/>
          </a:prstGeom>
          <a:solidFill>
            <a:srgbClr val="34D399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CD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094976" y="1965960"/>
            <a:ext cx="1810512" cy="27432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300" b="1">
                <a:solidFill>
                  <a:srgbClr val="EEF2F7"/>
                </a:solidFill>
              </a:defRPr>
            </a:pPr>
            <a:r>
              <a:t>Картки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56063" y="2441448"/>
            <a:ext cx="2249424" cy="38404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050" b="0">
                <a:solidFill>
                  <a:srgbClr val="94A3B8"/>
                </a:solidFill>
              </a:defRPr>
            </a:pPr>
            <a:r>
              <a:t>Рішення: зрозуміла структура контенту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86384" y="3291839"/>
            <a:ext cx="2615184" cy="1170432"/>
          </a:xfrm>
          <a:prstGeom prst="roundRect">
            <a:avLst/>
          </a:prstGeom>
          <a:solidFill>
            <a:srgbClr val="0709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749808" y="3246120"/>
            <a:ext cx="2615184" cy="1170432"/>
          </a:xfrm>
          <a:prstGeom prst="roundRect">
            <a:avLst/>
          </a:prstGeom>
          <a:solidFill>
            <a:srgbClr val="121A2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896112" y="3410712"/>
            <a:ext cx="480060" cy="384048"/>
          </a:xfrm>
          <a:prstGeom prst="roundRect">
            <a:avLst/>
          </a:prstGeom>
          <a:solidFill>
            <a:srgbClr val="FB923C"/>
          </a:solidFill>
          <a:ln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AN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371600" y="3429000"/>
            <a:ext cx="1810512" cy="27432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300" b="1">
                <a:solidFill>
                  <a:srgbClr val="EEF2F7"/>
                </a:solidFill>
              </a:defRPr>
            </a:pPr>
            <a:r>
              <a:t>Анімації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2688" y="3904487"/>
            <a:ext cx="2249424" cy="38404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050" b="0">
                <a:solidFill>
                  <a:srgbClr val="94A3B8"/>
                </a:solidFill>
              </a:defRPr>
            </a:pPr>
            <a:r>
              <a:t>Рішення: плавні переходи між сторінками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694175" y="3291839"/>
            <a:ext cx="2615184" cy="1170432"/>
          </a:xfrm>
          <a:prstGeom prst="roundRect">
            <a:avLst/>
          </a:prstGeom>
          <a:solidFill>
            <a:srgbClr val="0709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3657599" y="3246120"/>
            <a:ext cx="2615184" cy="1170432"/>
          </a:xfrm>
          <a:prstGeom prst="roundRect">
            <a:avLst/>
          </a:prstGeom>
          <a:solidFill>
            <a:srgbClr val="121A2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3803903" y="3410712"/>
            <a:ext cx="480060" cy="384048"/>
          </a:xfrm>
          <a:prstGeom prst="roundRect">
            <a:avLst/>
          </a:prstGeom>
          <a:solidFill>
            <a:srgbClr val="0A66C2"/>
          </a:solidFill>
          <a:ln>
            <a:solidFill>
              <a:srgbClr val="0A66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SR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279392" y="3429000"/>
            <a:ext cx="1810512" cy="27432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300" b="1">
                <a:solidFill>
                  <a:srgbClr val="EEF2F7"/>
                </a:solidFill>
              </a:defRPr>
            </a:pPr>
            <a:r>
              <a:t>Пошук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840479" y="3904487"/>
            <a:ext cx="2249424" cy="38404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050" b="0">
                <a:solidFill>
                  <a:srgbClr val="94A3B8"/>
                </a:solidFill>
              </a:defRPr>
            </a:pPr>
            <a:r>
              <a:t>Рішення: глобальний пошук по сутностях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601968" y="3291839"/>
            <a:ext cx="2615184" cy="1170432"/>
          </a:xfrm>
          <a:prstGeom prst="roundRect">
            <a:avLst/>
          </a:prstGeom>
          <a:solidFill>
            <a:srgbClr val="0709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6565392" y="3246120"/>
            <a:ext cx="2615184" cy="1170432"/>
          </a:xfrm>
          <a:prstGeom prst="roundRect">
            <a:avLst/>
          </a:prstGeom>
          <a:solidFill>
            <a:srgbClr val="121A2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6711696" y="3410712"/>
            <a:ext cx="480060" cy="384048"/>
          </a:xfrm>
          <a:prstGeom prst="roundRect">
            <a:avLst/>
          </a:prstGeom>
          <a:solidFill>
            <a:srgbClr val="8B5CF6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DM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187183" y="3429000"/>
            <a:ext cx="1810512" cy="27432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300" b="1">
                <a:solidFill>
                  <a:srgbClr val="EEF2F7"/>
                </a:solidFill>
              </a:defRPr>
            </a:pPr>
            <a:r>
              <a:t>Demo-режим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748272" y="3904487"/>
            <a:ext cx="2249424" cy="38404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050" b="0">
                <a:solidFill>
                  <a:srgbClr val="94A3B8"/>
                </a:solidFill>
              </a:defRPr>
            </a:pPr>
            <a:r>
              <a:t>Рішення: social demo без реєстрації по пошті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9509759" y="3291839"/>
            <a:ext cx="2615184" cy="1170432"/>
          </a:xfrm>
          <a:prstGeom prst="roundRect">
            <a:avLst/>
          </a:prstGeom>
          <a:solidFill>
            <a:srgbClr val="0709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9473184" y="3246120"/>
            <a:ext cx="2615184" cy="1170432"/>
          </a:xfrm>
          <a:prstGeom prst="roundRect">
            <a:avLst/>
          </a:prstGeom>
          <a:solidFill>
            <a:srgbClr val="121A2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9619488" y="3410712"/>
            <a:ext cx="480060" cy="384048"/>
          </a:xfrm>
          <a:prstGeom prst="round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FB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094976" y="3429000"/>
            <a:ext cx="1810512" cy="27432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300" b="1">
                <a:solidFill>
                  <a:srgbClr val="EEF2F7"/>
                </a:solidFill>
              </a:defRPr>
            </a:pPr>
            <a:r>
              <a:t>Fallback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656063" y="3904487"/>
            <a:ext cx="2249424" cy="38404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050" b="0">
                <a:solidFill>
                  <a:srgbClr val="94A3B8"/>
                </a:solidFill>
              </a:defRPr>
            </a:pPr>
            <a:r>
              <a:t>Рішення: стабільні mock-дані для захисту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1088136" y="5074920"/>
            <a:ext cx="10058400" cy="749808"/>
          </a:xfrm>
          <a:prstGeom prst="roundRect">
            <a:avLst/>
          </a:prstGeom>
          <a:solidFill>
            <a:srgbClr val="0709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1051560" y="5029200"/>
            <a:ext cx="10058400" cy="749808"/>
          </a:xfrm>
          <a:prstGeom prst="roundRect">
            <a:avLst/>
          </a:prstGeom>
          <a:solidFill>
            <a:srgbClr val="1B26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234440" y="5175504"/>
            <a:ext cx="9692640" cy="38404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>
              <a:defRPr sz="1300" b="0">
                <a:solidFill>
                  <a:srgbClr val="EEF2F7"/>
                </a:solidFill>
              </a:defRPr>
            </a:pPr>
            <a:r>
              <a:t>Для кандидата: одна навігація, теми, мови та social demo — все в одному UX.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presetID="10" presetClass="entr" presetSubtype="0" fill="hold" nodeType="clickEffect">
                      <p:stCondLst>
                        <p:cond delay="indefinite"/>
                      </p:stCondLst>
                      <p:childTnLst>
                        <p:animEffect transition="in" filter="fade">
                          <p:cBhvr>
                            <p:cTn id="4" dur="450"/>
                            <p:tgtEl>
                              <p:spTgt spid="22"/>
                            </p:tgtEl>
                          </p:cBhvr>
                        </p:animEffect>
                      </p:childTnLst>
                    </p:cTn>
                  </p:par>
                  <p:par>
                    <p:cTn id="5" presetID="10" presetClass="entr" presetSubtype="0" fill="hold" nodeType="clickEffect">
                      <p:stCondLst>
                        <p:cond delay="indefinite"/>
                      </p:stCondLst>
                      <p:childTnLst>
                        <p:animEffect transition="in" filter="fade">
                          <p:cBhvr>
                            <p:cTn id="6" dur="450"/>
                            <p:tgtEl>
                              <p:spTgt spid="27"/>
                            </p:tgtEl>
                          </p:cBhvr>
                        </p:animEffect>
                      </p:childTnLst>
                    </p:cTn>
                  </p:par>
                  <p:par>
                    <p:cTn id="7" presetID="10" presetClass="entr" presetSubtype="0" fill="hold" nodeType="clickEffect">
                      <p:stCondLst>
                        <p:cond delay="indefinite"/>
                      </p:stCondLst>
                      <p:childTnLst>
                        <p:animEffect transition="in" filter="fade">
                          <p:cBhvr>
                            <p:cTn id="8" dur="450"/>
                            <p:tgtEl>
                              <p:spTgt spid="32"/>
                            </p:tgtEl>
                          </p:cBhvr>
                        </p:animEffect>
                      </p:childTnLst>
                    </p:cTn>
                  </p:par>
                  <p:par>
                    <p:cTn id="9" presetID="10" presetClass="entr" presetSubtype="0" fill="hold" nodeType="clickEffect">
                      <p:stCondLst>
                        <p:cond delay="indefinite"/>
                      </p:stCondLst>
                      <p:childTnLst>
                        <p:animEffect transition="in" filter="fade">
                          <p:cBhvr>
                            <p:cTn id="10" dur="450"/>
                            <p:tgtEl>
                              <p:spTgt spid="37"/>
                            </p:tgtEl>
                          </p:cBhvr>
                        </p:animEffect>
                      </p:childTnLst>
                    </p:cTn>
                  </p:par>
                  <p:par>
                    <p:cTn id="11" presetID="10" presetClass="entr" presetSubtype="0" fill="hold" nodeType="clickEffect">
                      <p:stCondLst>
                        <p:cond delay="indefinite"/>
                      </p:stCondLst>
                      <p:childTnLst>
                        <p:animEffect transition="in" filter="fade">
                          <p:cBhvr>
                            <p:cTn id="12" dur="450"/>
                            <p:tgtEl>
                              <p:spTgt spid="42"/>
                            </p:tgtEl>
                          </p:cBhvr>
                        </p:animEffect>
                      </p:childTnLst>
                    </p:cTn>
                  </p:par>
                  <p:par>
                    <p:cTn id="13" presetID="10" presetClass="entr" presetSubtype="0" fill="hold" nodeType="clickEffect">
                      <p:stCondLst>
                        <p:cond delay="indefinite"/>
                      </p:stCondLst>
                      <p:childTnLst>
                        <p:animEffect transition="in" filter="fade">
                          <p:cBhvr>
                            <p:cTn id="14" dur="450"/>
                            <p:tgtEl>
                              <p:spTgt spid="47"/>
                            </p:tgtEl>
                          </p:cBhvr>
                        </p:animEffect>
                      </p:childTnLst>
                    </p:cTn>
                  </p:par>
                  <p:par>
                    <p:cTn id="15" presetID="10" presetClass="entr" presetSubtype="0" fill="hold" nodeType="clickEffect">
                      <p:stCondLst>
                        <p:cond delay="indefinite"/>
                      </p:stCondLst>
                      <p:childTnLst>
                        <p:animEffect transition="in" filter="fade">
                          <p:cBhvr>
                            <p:cTn id="16" dur="450"/>
                            <p:tgtEl>
                              <p:spTgt spid="52"/>
                            </p:tgtEl>
                          </p:cBhvr>
                        </p:animEffect>
                      </p:childTnLst>
                    </p:cTn>
                  </p:par>
                  <p:par>
                    <p:cTn id="17" presetID="10" presetClass="entr" presetSubtype="0" fill="hold" nodeType="clickEffect">
                      <p:stCondLst>
                        <p:cond delay="indefinite"/>
                      </p:stCondLst>
                      <p:childTnLst>
                        <p:animEffect transition="in" filter="fade">
                          <p:cBhvr>
                            <p:cTn id="18" dur="450"/>
                            <p:tgtEl>
                              <p:spTgt spid="57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46920" y="320040"/>
            <a:ext cx="2286000" cy="2286000"/>
          </a:xfrm>
          <a:prstGeom prst="ellipse">
            <a:avLst/>
          </a:prstGeom>
          <a:solidFill>
            <a:srgbClr val="122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20040" y="4983480"/>
            <a:ext cx="1417320" cy="1417320"/>
          </a:xfrm>
          <a:prstGeom prst="ellipse">
            <a:avLst/>
          </a:prstGeom>
          <a:solidFill>
            <a:srgbClr val="1618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0080"/>
            <a:ext cx="1219169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18872"/>
            <a:ext cx="420624" cy="384048"/>
          </a:xfrm>
          <a:prstGeom prst="roundRect">
            <a:avLst/>
          </a:prstGeom>
          <a:solidFill>
            <a:srgbClr val="0A66C2"/>
          </a:solidFill>
          <a:ln>
            <a:solidFill>
              <a:srgbClr val="0A66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" y="173736"/>
            <a:ext cx="1417320" cy="22860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100" b="1">
                <a:solidFill>
                  <a:srgbClr val="EEF2F7"/>
                </a:solidFill>
              </a:defRPr>
            </a:pPr>
            <a:r>
              <a:t>LinkedIn Clone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331720" y="128016"/>
            <a:ext cx="1481328" cy="256032"/>
          </a:xfrm>
          <a:prstGeom prst="roundRect">
            <a:avLst/>
          </a:prstGeom>
          <a:solidFill>
            <a:srgbClr val="1B26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94A3B8"/>
                </a:solidFill>
              </a:defRPr>
            </a:pPr>
            <a:r>
              <a:t>Головна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922776" y="128016"/>
            <a:ext cx="1481328" cy="256032"/>
          </a:xfrm>
          <a:prstGeom prst="roundRect">
            <a:avLst/>
          </a:prstGeom>
          <a:solidFill>
            <a:srgbClr val="1B26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94A3B8"/>
                </a:solidFill>
              </a:defRPr>
            </a:pPr>
            <a:r>
              <a:t>Мережа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513832" y="128016"/>
            <a:ext cx="1481328" cy="256032"/>
          </a:xfrm>
          <a:prstGeom prst="roundRect">
            <a:avLst/>
          </a:prstGeom>
          <a:solidFill>
            <a:srgbClr val="1B26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94A3B8"/>
                </a:solidFill>
              </a:defRPr>
            </a:pPr>
            <a:r>
              <a:t>Вакансії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04888" y="128016"/>
            <a:ext cx="1481328" cy="256032"/>
          </a:xfrm>
          <a:prstGeom prst="roundRect">
            <a:avLst/>
          </a:prstGeom>
          <a:solidFill>
            <a:srgbClr val="1B26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94A3B8"/>
                </a:solidFill>
              </a:defRPr>
            </a:pPr>
            <a:r>
              <a:t>Чат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95944" y="128016"/>
            <a:ext cx="1481328" cy="256032"/>
          </a:xfrm>
          <a:prstGeom prst="roundRect">
            <a:avLst/>
          </a:prstGeom>
          <a:solidFill>
            <a:srgbClr val="1B26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94A3B8"/>
                </a:solidFill>
              </a:defRPr>
            </a:pPr>
            <a:r>
              <a:t>Профіль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6693408"/>
            <a:ext cx="3180442" cy="164592"/>
          </a:xfrm>
          <a:prstGeom prst="rect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6684264"/>
            <a:ext cx="2103120" cy="10972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</a:defRPr>
            </a:pPr>
            <a:r>
              <a:t>LinkedIn Diplom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47120" y="6684264"/>
            <a:ext cx="822960" cy="10972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r">
              <a:defRPr sz="800" b="0">
                <a:solidFill>
                  <a:srgbClr val="94A3B8"/>
                </a:solidFill>
              </a:defRPr>
            </a:pPr>
            <a:r>
              <a:t>6/23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786384"/>
            <a:ext cx="10972800" cy="50292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2400" b="1">
                <a:solidFill>
                  <a:srgbClr val="EEF2F7"/>
                </a:solidFill>
              </a:defRPr>
            </a:pPr>
            <a:r>
              <a:t>5. Звіт: Що є у конкурентів і що додано у нас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8" y="1673352"/>
            <a:ext cx="5321808" cy="4526280"/>
          </a:xfrm>
          <a:prstGeom prst="roundRect">
            <a:avLst/>
          </a:prstGeom>
          <a:solidFill>
            <a:srgbClr val="0709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13232" y="1627632"/>
            <a:ext cx="5321808" cy="4526280"/>
          </a:xfrm>
          <a:prstGeom prst="roundRect">
            <a:avLst/>
          </a:prstGeom>
          <a:solidFill>
            <a:srgbClr val="121A2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181344" y="1673352"/>
            <a:ext cx="5321808" cy="4526280"/>
          </a:xfrm>
          <a:prstGeom prst="roundRect">
            <a:avLst/>
          </a:prstGeom>
          <a:solidFill>
            <a:srgbClr val="0709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144768" y="1627632"/>
            <a:ext cx="5321808" cy="4526280"/>
          </a:xfrm>
          <a:prstGeom prst="roundRect">
            <a:avLst/>
          </a:prstGeom>
          <a:solidFill>
            <a:srgbClr val="1B26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13232" y="1627632"/>
            <a:ext cx="5321808" cy="64008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44768" y="1627632"/>
            <a:ext cx="5321808" cy="64008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51560" y="1847088"/>
            <a:ext cx="4069080" cy="74980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400" b="1">
                <a:solidFill>
                  <a:srgbClr val="FB923C"/>
                </a:solidFill>
              </a:defRPr>
            </a:pPr>
            <a:r>
              <a:t>Стан у конкурентів: У конкурентів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73952" y="1847088"/>
            <a:ext cx="4069080" cy="74980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400" b="1">
                <a:solidFill>
                  <a:srgbClr val="34D399"/>
                </a:solidFill>
              </a:defRPr>
            </a:pPr>
            <a:r>
              <a:t>Наше рішення: У нашому LinkedIn Clone</a:t>
            </a:r>
          </a:p>
        </p:txBody>
      </p:sp>
      <p:sp>
        <p:nvSpPr>
          <p:cNvPr id="27" name="Oval 26"/>
          <p:cNvSpPr/>
          <p:nvPr/>
        </p:nvSpPr>
        <p:spPr>
          <a:xfrm>
            <a:off x="1097280" y="2788920"/>
            <a:ext cx="109728" cy="109728"/>
          </a:xfrm>
          <a:prstGeom prst="ellipse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325880" y="2697480"/>
            <a:ext cx="3703320" cy="80467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150" b="0">
                <a:solidFill>
                  <a:srgbClr val="EEF2F7"/>
                </a:solidFill>
              </a:defRPr>
            </a:pPr>
            <a:r>
              <a:t>Аналіз: Вакансії існують окремо від соціальної активності кандидата.</a:t>
            </a:r>
          </a:p>
        </p:txBody>
      </p:sp>
      <p:sp>
        <p:nvSpPr>
          <p:cNvPr id="29" name="Oval 28"/>
          <p:cNvSpPr/>
          <p:nvPr/>
        </p:nvSpPr>
        <p:spPr>
          <a:xfrm>
            <a:off x="1097280" y="3630168"/>
            <a:ext cx="109728" cy="109728"/>
          </a:xfrm>
          <a:prstGeom prst="ellipse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325880" y="3538728"/>
            <a:ext cx="3703320" cy="80467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150" b="0">
                <a:solidFill>
                  <a:srgbClr val="EEF2F7"/>
                </a:solidFill>
              </a:defRPr>
            </a:pPr>
            <a:r>
              <a:t>Аналіз: Пошук роботи часто не пов'язаний з чатами та мережею контактів.</a:t>
            </a:r>
          </a:p>
        </p:txBody>
      </p:sp>
      <p:sp>
        <p:nvSpPr>
          <p:cNvPr id="31" name="Oval 30"/>
          <p:cNvSpPr/>
          <p:nvPr/>
        </p:nvSpPr>
        <p:spPr>
          <a:xfrm>
            <a:off x="1097280" y="4471416"/>
            <a:ext cx="109728" cy="109728"/>
          </a:xfrm>
          <a:prstGeom prst="ellipse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325880" y="4379976"/>
            <a:ext cx="3703320" cy="80467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150" b="0">
                <a:solidFill>
                  <a:srgbClr val="EEF2F7"/>
                </a:solidFill>
              </a:defRPr>
            </a:pPr>
            <a:r>
              <a:t>Аналіз: Демонстраційні проєкти нерідко залишаються статичними макетами.</a:t>
            </a:r>
          </a:p>
        </p:txBody>
      </p:sp>
      <p:sp>
        <p:nvSpPr>
          <p:cNvPr id="33" name="Oval 32"/>
          <p:cNvSpPr/>
          <p:nvPr/>
        </p:nvSpPr>
        <p:spPr>
          <a:xfrm>
            <a:off x="1097280" y="5312664"/>
            <a:ext cx="109728" cy="109728"/>
          </a:xfrm>
          <a:prstGeom prst="ellipse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325880" y="5221224"/>
            <a:ext cx="3703320" cy="80467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150" b="0">
                <a:solidFill>
                  <a:srgbClr val="EEF2F7"/>
                </a:solidFill>
              </a:defRPr>
            </a:pPr>
            <a:r>
              <a:t>Аналіз: Інтерфейс не завжди показує повний шлях користувача від входу до дії.</a:t>
            </a:r>
          </a:p>
        </p:txBody>
      </p:sp>
      <p:sp>
        <p:nvSpPr>
          <p:cNvPr id="35" name="Oval 34"/>
          <p:cNvSpPr/>
          <p:nvPr/>
        </p:nvSpPr>
        <p:spPr>
          <a:xfrm>
            <a:off x="6519672" y="2788920"/>
            <a:ext cx="109728" cy="109728"/>
          </a:xfrm>
          <a:prstGeom prst="ellipse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748272" y="2697480"/>
            <a:ext cx="3703320" cy="80467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150" b="0">
                <a:solidFill>
                  <a:srgbClr val="EEF2F7"/>
                </a:solidFill>
              </a:defRPr>
            </a:pPr>
            <a:r>
              <a:t>Перевага: Користувач шукає роботу, веде профіль, читає контент і спілкується в одному місці.</a:t>
            </a:r>
          </a:p>
        </p:txBody>
      </p:sp>
      <p:sp>
        <p:nvSpPr>
          <p:cNvPr id="37" name="Oval 36"/>
          <p:cNvSpPr/>
          <p:nvPr/>
        </p:nvSpPr>
        <p:spPr>
          <a:xfrm>
            <a:off x="6519672" y="3630168"/>
            <a:ext cx="109728" cy="109728"/>
          </a:xfrm>
          <a:prstGeom prst="ellipse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748272" y="3538728"/>
            <a:ext cx="3703320" cy="80467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150" b="0">
                <a:solidFill>
                  <a:srgbClr val="EEF2F7"/>
                </a:solidFill>
              </a:defRPr>
            </a:pPr>
            <a:r>
              <a:t>Перевага: Вакансії, контакти та повідомлення об'єднані в логічний кандидатський сценарій.</a:t>
            </a:r>
          </a:p>
        </p:txBody>
      </p:sp>
      <p:sp>
        <p:nvSpPr>
          <p:cNvPr id="39" name="Oval 38"/>
          <p:cNvSpPr/>
          <p:nvPr/>
        </p:nvSpPr>
        <p:spPr>
          <a:xfrm>
            <a:off x="6519672" y="4471416"/>
            <a:ext cx="109728" cy="109728"/>
          </a:xfrm>
          <a:prstGeom prst="ellipse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748272" y="4379976"/>
            <a:ext cx="3703320" cy="80467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150" b="0">
                <a:solidFill>
                  <a:srgbClr val="EEF2F7"/>
                </a:solidFill>
              </a:defRPr>
            </a:pPr>
            <a:r>
              <a:t>Перевага: Frontend має demo-режим і fallback-дані для гарантованої демонстрації на захисті.</a:t>
            </a:r>
          </a:p>
        </p:txBody>
      </p:sp>
      <p:sp>
        <p:nvSpPr>
          <p:cNvPr id="41" name="Oval 40"/>
          <p:cNvSpPr/>
          <p:nvPr/>
        </p:nvSpPr>
        <p:spPr>
          <a:xfrm>
            <a:off x="6519672" y="5312664"/>
            <a:ext cx="109728" cy="109728"/>
          </a:xfrm>
          <a:prstGeom prst="ellipse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748272" y="5221224"/>
            <a:ext cx="3703320" cy="80467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150" b="0">
                <a:solidFill>
                  <a:srgbClr val="EEF2F7"/>
                </a:solidFill>
              </a:defRPr>
            </a:pPr>
            <a:r>
              <a:t>Перевага: На захисті показуємо послідовність через social demo: auth → profile → feed → jobs → chat.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46920" y="320040"/>
            <a:ext cx="2286000" cy="2286000"/>
          </a:xfrm>
          <a:prstGeom prst="ellipse">
            <a:avLst/>
          </a:prstGeom>
          <a:solidFill>
            <a:srgbClr val="122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20040" y="4983480"/>
            <a:ext cx="1417320" cy="1417320"/>
          </a:xfrm>
          <a:prstGeom prst="ellipse">
            <a:avLst/>
          </a:prstGeom>
          <a:solidFill>
            <a:srgbClr val="1618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0080"/>
            <a:ext cx="1219169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18872"/>
            <a:ext cx="420624" cy="384048"/>
          </a:xfrm>
          <a:prstGeom prst="roundRect">
            <a:avLst/>
          </a:prstGeom>
          <a:solidFill>
            <a:srgbClr val="0A66C2"/>
          </a:solidFill>
          <a:ln>
            <a:solidFill>
              <a:srgbClr val="0A66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" y="173736"/>
            <a:ext cx="1417320" cy="22860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100" b="1">
                <a:solidFill>
                  <a:srgbClr val="EEF2F7"/>
                </a:solidFill>
              </a:defRPr>
            </a:pPr>
            <a:r>
              <a:t>LinkedIn Clone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331720" y="128016"/>
            <a:ext cx="1481328" cy="256032"/>
          </a:xfrm>
          <a:prstGeom prst="roundRect">
            <a:avLst/>
          </a:prstGeom>
          <a:solidFill>
            <a:srgbClr val="1B26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94A3B8"/>
                </a:solidFill>
              </a:defRPr>
            </a:pPr>
            <a:r>
              <a:t>Головна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922776" y="128016"/>
            <a:ext cx="1481328" cy="256032"/>
          </a:xfrm>
          <a:prstGeom prst="roundRect">
            <a:avLst/>
          </a:prstGeom>
          <a:solidFill>
            <a:srgbClr val="1B26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94A3B8"/>
                </a:solidFill>
              </a:defRPr>
            </a:pPr>
            <a:r>
              <a:t>Мережа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513832" y="128016"/>
            <a:ext cx="1481328" cy="256032"/>
          </a:xfrm>
          <a:prstGeom prst="roundRect">
            <a:avLst/>
          </a:prstGeom>
          <a:solidFill>
            <a:srgbClr val="1B26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94A3B8"/>
                </a:solidFill>
              </a:defRPr>
            </a:pPr>
            <a:r>
              <a:t>Вакансії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04888" y="128016"/>
            <a:ext cx="1481328" cy="256032"/>
          </a:xfrm>
          <a:prstGeom prst="roundRect">
            <a:avLst/>
          </a:prstGeom>
          <a:solidFill>
            <a:srgbClr val="1B26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94A3B8"/>
                </a:solidFill>
              </a:defRPr>
            </a:pPr>
            <a:r>
              <a:t>Чат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95944" y="128016"/>
            <a:ext cx="1481328" cy="256032"/>
          </a:xfrm>
          <a:prstGeom prst="roundRect">
            <a:avLst/>
          </a:prstGeom>
          <a:solidFill>
            <a:srgbClr val="1B26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94A3B8"/>
                </a:solidFill>
              </a:defRPr>
            </a:pPr>
            <a:r>
              <a:t>Профіль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6693408"/>
            <a:ext cx="3710515" cy="164592"/>
          </a:xfrm>
          <a:prstGeom prst="rect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6684264"/>
            <a:ext cx="2103120" cy="10972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</a:defRPr>
            </a:pPr>
            <a:r>
              <a:t>LinkedIn Diplom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47120" y="6684264"/>
            <a:ext cx="822960" cy="10972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r">
              <a:defRPr sz="800" b="0">
                <a:solidFill>
                  <a:srgbClr val="94A3B8"/>
                </a:solidFill>
              </a:defRPr>
            </a:pPr>
            <a:r>
              <a:t>7/23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786384"/>
            <a:ext cx="10972800" cy="50292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2400" b="1">
                <a:solidFill>
                  <a:srgbClr val="EEF2F7"/>
                </a:solidFill>
              </a:defRPr>
            </a:pPr>
            <a:r>
              <a:t>6. Звіт: Компонентна структура frontend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1261872"/>
            <a:ext cx="10424160" cy="29260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Звітний огляд: Кожен блок — ізольований React-модуль з власною логікою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8" y="1673352"/>
            <a:ext cx="5074920" cy="4160520"/>
          </a:xfrm>
          <a:prstGeom prst="roundRect">
            <a:avLst/>
          </a:prstGeom>
          <a:solidFill>
            <a:srgbClr val="0709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13232" y="1627632"/>
            <a:ext cx="5074920" cy="4160520"/>
          </a:xfrm>
          <a:prstGeom prst="roundRect">
            <a:avLst/>
          </a:prstGeom>
          <a:solidFill>
            <a:srgbClr val="121A2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2688" y="1828800"/>
            <a:ext cx="4389120" cy="25603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300" b="1">
                <a:solidFill>
                  <a:srgbClr val="38BDF8"/>
                </a:solidFill>
              </a:defRPr>
            </a:pPr>
            <a:r>
              <a:t>Дерево папок frontend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2176272"/>
            <a:ext cx="4663440" cy="27432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950" b="0">
                <a:solidFill>
                  <a:srgbClr val="EEF2F7"/>
                </a:solidFill>
              </a:defRPr>
            </a:pPr>
            <a:r>
              <a:t>frontend/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2487168"/>
            <a:ext cx="4663440" cy="27432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950" b="0">
                <a:solidFill>
                  <a:srgbClr val="EEF2F7"/>
                </a:solidFill>
              </a:defRPr>
            </a:pPr>
            <a:r>
              <a:t>├── src/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2798064"/>
            <a:ext cx="4663440" cy="27432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950" b="0">
                <a:solidFill>
                  <a:srgbClr val="94A3B8"/>
                </a:solidFill>
              </a:defRPr>
            </a:pPr>
            <a:r>
              <a:t>│   ├── app/           router, providers, layout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" y="3108960"/>
            <a:ext cx="4663440" cy="27432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950" b="0">
                <a:solidFill>
                  <a:srgbClr val="94A3B8"/>
                </a:solidFill>
              </a:defRPr>
            </a:pPr>
            <a:r>
              <a:t>│   ├── pages/         auth, home, network, jobs, chat, admin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" y="3419856"/>
            <a:ext cx="4663440" cy="27432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950" b="0">
                <a:solidFill>
                  <a:srgbClr val="94A3B8"/>
                </a:solidFill>
              </a:defRPr>
            </a:pPr>
            <a:r>
              <a:t>│   ├── features/      auth, profile, jobs, chat, network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" y="3730752"/>
            <a:ext cx="4663440" cy="27432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950" b="0">
                <a:solidFill>
                  <a:srgbClr val="EEF2F7"/>
                </a:solidFill>
              </a:defRPr>
            </a:pPr>
            <a:r>
              <a:t>│   └── shared/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" y="4041648"/>
            <a:ext cx="4663440" cy="27432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950" b="0">
                <a:solidFill>
                  <a:srgbClr val="94A3B8"/>
                </a:solidFill>
              </a:defRPr>
            </a:pPr>
            <a:r>
              <a:t>│       ├── api/       HTTP-клієнт, paths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20" y="4352544"/>
            <a:ext cx="4663440" cy="27432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950" b="0">
                <a:solidFill>
                  <a:srgbClr val="94A3B8"/>
                </a:solidFill>
              </a:defRPr>
            </a:pPr>
            <a:r>
              <a:t>│       ├── ui/        спільні компоненти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120" y="4663440"/>
            <a:ext cx="4663440" cy="27432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950" b="0">
                <a:solidFill>
                  <a:srgbClr val="94A3B8"/>
                </a:solidFill>
              </a:defRPr>
            </a:pPr>
            <a:r>
              <a:t>│       └── lib/       storage, session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0120" y="4974336"/>
            <a:ext cx="4663440" cy="27432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950" b="0">
                <a:solidFill>
                  <a:srgbClr val="94A3B8"/>
                </a:solidFill>
              </a:defRPr>
            </a:pPr>
            <a:r>
              <a:t>├── vite.config.js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0120" y="5285232"/>
            <a:ext cx="4663440" cy="27432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950" b="0">
                <a:solidFill>
                  <a:srgbClr val="94A3B8"/>
                </a:solidFill>
              </a:defRPr>
            </a:pPr>
            <a:r>
              <a:t>└── package.json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089904" y="1673352"/>
            <a:ext cx="5486400" cy="4160520"/>
          </a:xfrm>
          <a:prstGeom prst="roundRect">
            <a:avLst/>
          </a:prstGeom>
          <a:solidFill>
            <a:srgbClr val="0709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053328" y="1627632"/>
            <a:ext cx="5486400" cy="4160520"/>
          </a:xfrm>
          <a:prstGeom prst="roundRect">
            <a:avLst/>
          </a:prstGeom>
          <a:solidFill>
            <a:srgbClr val="1B26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91072" y="1828800"/>
            <a:ext cx="4937760" cy="25603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300" b="1">
                <a:solidFill>
                  <a:srgbClr val="C4B5FD"/>
                </a:solidFill>
              </a:defRPr>
            </a:pPr>
            <a:r>
              <a:t>Ізольовані React-модулі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91072" y="2249424"/>
            <a:ext cx="274320" cy="27432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>
              <a:defRPr sz="1400" b="1">
                <a:solidFill>
                  <a:srgbClr val="34D399"/>
                </a:solidFill>
              </a:defRPr>
            </a:pPr>
            <a:r>
              <a:t>✓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47104" y="2212848"/>
            <a:ext cx="4736592" cy="62179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000" b="0">
                <a:solidFill>
                  <a:srgbClr val="EEF2F7"/>
                </a:solidFill>
              </a:defRPr>
            </a:pPr>
            <a:r>
              <a:t>Модуль: pages/ — екрани за сценаріями: auth, home, network, jobs, chat, admin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91072" y="2907791"/>
            <a:ext cx="274320" cy="27432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>
              <a:defRPr sz="1400" b="1">
                <a:solidFill>
                  <a:srgbClr val="34D399"/>
                </a:solidFill>
              </a:defRPr>
            </a:pPr>
            <a:r>
              <a:t>✓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47104" y="2871215"/>
            <a:ext cx="4736592" cy="62179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000" b="0">
                <a:solidFill>
                  <a:srgbClr val="EEF2F7"/>
                </a:solidFill>
              </a:defRPr>
            </a:pPr>
            <a:r>
              <a:t>Модуль: features/ — бізнес-логіка модулів, API-виклики, mappers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91072" y="3566160"/>
            <a:ext cx="274320" cy="27432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>
              <a:defRPr sz="1400" b="1">
                <a:solidFill>
                  <a:srgbClr val="34D399"/>
                </a:solidFill>
              </a:defRPr>
            </a:pPr>
            <a:r>
              <a:t>✓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47104" y="3529584"/>
            <a:ext cx="4736592" cy="62179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000" b="0">
                <a:solidFill>
                  <a:srgbClr val="EEF2F7"/>
                </a:solidFill>
              </a:defRPr>
            </a:pPr>
            <a:r>
              <a:t>Модуль: app/ — router, providers, layout, ініціалізація UI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91072" y="4224528"/>
            <a:ext cx="274320" cy="27432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>
              <a:defRPr sz="1400" b="1">
                <a:solidFill>
                  <a:srgbClr val="34D399"/>
                </a:solidFill>
              </a:defRPr>
            </a:pPr>
            <a:r>
              <a:t>✓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47104" y="4187952"/>
            <a:ext cx="4736592" cy="62179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000" b="0">
                <a:solidFill>
                  <a:srgbClr val="EEF2F7"/>
                </a:solidFill>
              </a:defRPr>
            </a:pPr>
            <a:r>
              <a:t>Модуль: shared/ — api, ui, lib: спільний код без прив'язки до одного модуля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91072" y="4882896"/>
            <a:ext cx="274320" cy="27432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>
              <a:defRPr sz="1400" b="1">
                <a:solidFill>
                  <a:srgbClr val="34D399"/>
                </a:solidFill>
              </a:defRPr>
            </a:pPr>
            <a:r>
              <a:t>✓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47104" y="4846320"/>
            <a:ext cx="4736592" cy="62179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000" b="0">
                <a:solidFill>
                  <a:srgbClr val="EEF2F7"/>
                </a:solidFill>
              </a:defRPr>
            </a:pPr>
            <a:r>
              <a:t>Модуль: contexts — Auth, Profile, Network, Vacancies, Chat (глобальний стан)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49808" y="5577840"/>
            <a:ext cx="10835640" cy="566928"/>
          </a:xfrm>
          <a:prstGeom prst="roundRect">
            <a:avLst/>
          </a:prstGeom>
          <a:solidFill>
            <a:srgbClr val="0709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713232" y="5532120"/>
            <a:ext cx="10835640" cy="566928"/>
          </a:xfrm>
          <a:prstGeom prst="roundRect">
            <a:avLst/>
          </a:prstGeom>
          <a:solidFill>
            <a:srgbClr val="1B26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32688" y="5650992"/>
            <a:ext cx="10424160" cy="34747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050" b="0">
                <a:solidFill>
                  <a:srgbClr val="EEF2F7"/>
                </a:solidFill>
              </a:defRPr>
            </a:pPr>
            <a:r>
              <a:t>Архітектура: Код розбито за папками так, щоб модулі не залежали один від одного напряму.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46920" y="320040"/>
            <a:ext cx="2286000" cy="2286000"/>
          </a:xfrm>
          <a:prstGeom prst="ellipse">
            <a:avLst/>
          </a:prstGeom>
          <a:solidFill>
            <a:srgbClr val="122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20040" y="4983480"/>
            <a:ext cx="1417320" cy="1417320"/>
          </a:xfrm>
          <a:prstGeom prst="ellipse">
            <a:avLst/>
          </a:prstGeom>
          <a:solidFill>
            <a:srgbClr val="1618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0080"/>
            <a:ext cx="1219169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18872"/>
            <a:ext cx="420624" cy="384048"/>
          </a:xfrm>
          <a:prstGeom prst="roundRect">
            <a:avLst/>
          </a:prstGeom>
          <a:solidFill>
            <a:srgbClr val="0A66C2"/>
          </a:solidFill>
          <a:ln>
            <a:solidFill>
              <a:srgbClr val="0A66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" y="173736"/>
            <a:ext cx="1417320" cy="22860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100" b="1">
                <a:solidFill>
                  <a:srgbClr val="EEF2F7"/>
                </a:solidFill>
              </a:defRPr>
            </a:pPr>
            <a:r>
              <a:t>LinkedIn Clone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331720" y="128016"/>
            <a:ext cx="1481328" cy="256032"/>
          </a:xfrm>
          <a:prstGeom prst="roundRect">
            <a:avLst/>
          </a:prstGeom>
          <a:solidFill>
            <a:srgbClr val="1B26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94A3B8"/>
                </a:solidFill>
              </a:defRPr>
            </a:pPr>
            <a:r>
              <a:t>Головна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922776" y="128016"/>
            <a:ext cx="1481328" cy="256032"/>
          </a:xfrm>
          <a:prstGeom prst="roundRect">
            <a:avLst/>
          </a:prstGeom>
          <a:solidFill>
            <a:srgbClr val="1B26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94A3B8"/>
                </a:solidFill>
              </a:defRPr>
            </a:pPr>
            <a:r>
              <a:t>Мережа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513832" y="128016"/>
            <a:ext cx="1481328" cy="256032"/>
          </a:xfrm>
          <a:prstGeom prst="roundRect">
            <a:avLst/>
          </a:prstGeom>
          <a:solidFill>
            <a:srgbClr val="1B26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94A3B8"/>
                </a:solidFill>
              </a:defRPr>
            </a:pPr>
            <a:r>
              <a:t>Вакансії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04888" y="128016"/>
            <a:ext cx="1481328" cy="256032"/>
          </a:xfrm>
          <a:prstGeom prst="roundRect">
            <a:avLst/>
          </a:prstGeom>
          <a:solidFill>
            <a:srgbClr val="1B26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94A3B8"/>
                </a:solidFill>
              </a:defRPr>
            </a:pPr>
            <a:r>
              <a:t>Чат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95944" y="128016"/>
            <a:ext cx="1481328" cy="256032"/>
          </a:xfrm>
          <a:prstGeom prst="roundRect">
            <a:avLst/>
          </a:prstGeom>
          <a:solidFill>
            <a:srgbClr val="1B26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94A3B8"/>
                </a:solidFill>
              </a:defRPr>
            </a:pPr>
            <a:r>
              <a:t>Профіль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6693408"/>
            <a:ext cx="4240589" cy="164592"/>
          </a:xfrm>
          <a:prstGeom prst="rect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6684264"/>
            <a:ext cx="2103120" cy="10972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</a:defRPr>
            </a:pPr>
            <a:r>
              <a:t>LinkedIn Diplom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47120" y="6684264"/>
            <a:ext cx="822960" cy="10972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r">
              <a:defRPr sz="800" b="0">
                <a:solidFill>
                  <a:srgbClr val="94A3B8"/>
                </a:solidFill>
              </a:defRPr>
            </a:pPr>
            <a:r>
              <a:t>8/23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786384"/>
            <a:ext cx="10972800" cy="50292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2400" b="1">
                <a:solidFill>
                  <a:srgbClr val="EEF2F7"/>
                </a:solidFill>
              </a:defRPr>
            </a:pPr>
            <a:r>
              <a:t>7. Звіт: Архітектура frontend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1261872"/>
            <a:ext cx="10424160" cy="29260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Frontend: Context API, API-клієнт, demo-режим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94944" y="1947672"/>
            <a:ext cx="2057400" cy="1874519"/>
          </a:xfrm>
          <a:prstGeom prst="roundRect">
            <a:avLst/>
          </a:prstGeom>
          <a:solidFill>
            <a:srgbClr val="0709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58368" y="1901952"/>
            <a:ext cx="2057400" cy="1874519"/>
          </a:xfrm>
          <a:prstGeom prst="roundRect">
            <a:avLst/>
          </a:prstGeom>
          <a:solidFill>
            <a:srgbClr val="121A2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9536" y="2176272"/>
            <a:ext cx="1655064" cy="45720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>
              <a:defRPr sz="1400" b="1">
                <a:solidFill>
                  <a:srgbClr val="0A66C2"/>
                </a:solidFill>
              </a:defRPr>
            </a:pPr>
            <a:r>
              <a:t>React/Vite SPA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7" y="2770632"/>
            <a:ext cx="1691640" cy="50292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>
              <a:defRPr sz="1100" b="0">
                <a:solidFill>
                  <a:srgbClr val="EEF2F7"/>
                </a:solidFill>
              </a:defRPr>
            </a:pPr>
            <a:r>
              <a:t>Чому обрано: UI, routing, компоненти</a:t>
            </a:r>
          </a:p>
        </p:txBody>
      </p:sp>
      <p:sp>
        <p:nvSpPr>
          <p:cNvPr id="24" name="Chevron 23"/>
          <p:cNvSpPr/>
          <p:nvPr/>
        </p:nvSpPr>
        <p:spPr>
          <a:xfrm>
            <a:off x="2761487" y="2587752"/>
            <a:ext cx="164592" cy="502920"/>
          </a:xfrm>
          <a:prstGeom prst="chevron">
            <a:avLst/>
          </a:prstGeom>
          <a:solidFill>
            <a:srgbClr val="2A4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3008376" y="1947672"/>
            <a:ext cx="2057400" cy="1874519"/>
          </a:xfrm>
          <a:prstGeom prst="roundRect">
            <a:avLst/>
          </a:prstGeom>
          <a:solidFill>
            <a:srgbClr val="0709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2971800" y="1901952"/>
            <a:ext cx="2057400" cy="1874519"/>
          </a:xfrm>
          <a:prstGeom prst="roundRect">
            <a:avLst/>
          </a:prstGeom>
          <a:solidFill>
            <a:srgbClr val="121A2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172968" y="2176272"/>
            <a:ext cx="1655064" cy="45720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>
              <a:defRPr sz="1400" b="1">
                <a:solidFill>
                  <a:srgbClr val="8B5CF6"/>
                </a:solidFill>
              </a:defRPr>
            </a:pPr>
            <a:r>
              <a:t>Context Providers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154680" y="2770632"/>
            <a:ext cx="1691640" cy="50292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>
              <a:defRPr sz="1100" b="0">
                <a:solidFill>
                  <a:srgbClr val="EEF2F7"/>
                </a:solidFill>
              </a:defRPr>
            </a:pPr>
            <a:r>
              <a:t>Чому обрано: auth, profile, network, jobs, chat</a:t>
            </a:r>
          </a:p>
        </p:txBody>
      </p:sp>
      <p:sp>
        <p:nvSpPr>
          <p:cNvPr id="29" name="Chevron 28"/>
          <p:cNvSpPr/>
          <p:nvPr/>
        </p:nvSpPr>
        <p:spPr>
          <a:xfrm>
            <a:off x="5074920" y="2587752"/>
            <a:ext cx="164592" cy="502920"/>
          </a:xfrm>
          <a:prstGeom prst="chevron">
            <a:avLst/>
          </a:prstGeom>
          <a:solidFill>
            <a:srgbClr val="2A4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5321808" y="1947672"/>
            <a:ext cx="2057400" cy="1874519"/>
          </a:xfrm>
          <a:prstGeom prst="roundRect">
            <a:avLst/>
          </a:prstGeom>
          <a:solidFill>
            <a:srgbClr val="0709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5285232" y="1901952"/>
            <a:ext cx="2057400" cy="1874519"/>
          </a:xfrm>
          <a:prstGeom prst="roundRect">
            <a:avLst/>
          </a:prstGeom>
          <a:solidFill>
            <a:srgbClr val="121A2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0" y="2176272"/>
            <a:ext cx="1655064" cy="45720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API client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68112" y="2770632"/>
            <a:ext cx="1691640" cy="50292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>
              <a:defRPr sz="1100" b="0">
                <a:solidFill>
                  <a:srgbClr val="EEF2F7"/>
                </a:solidFill>
              </a:defRPr>
            </a:pPr>
            <a:r>
              <a:t>Чому обрано: підготовлений шар запитів</a:t>
            </a:r>
          </a:p>
        </p:txBody>
      </p:sp>
      <p:sp>
        <p:nvSpPr>
          <p:cNvPr id="34" name="Chevron 33"/>
          <p:cNvSpPr/>
          <p:nvPr/>
        </p:nvSpPr>
        <p:spPr>
          <a:xfrm>
            <a:off x="7388352" y="2587752"/>
            <a:ext cx="164592" cy="502920"/>
          </a:xfrm>
          <a:prstGeom prst="chevron">
            <a:avLst/>
          </a:prstGeom>
          <a:solidFill>
            <a:srgbClr val="2A4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7635240" y="1947672"/>
            <a:ext cx="2057400" cy="1874519"/>
          </a:xfrm>
          <a:prstGeom prst="roundRect">
            <a:avLst/>
          </a:prstGeom>
          <a:solidFill>
            <a:srgbClr val="0709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7598664" y="1901952"/>
            <a:ext cx="2057400" cy="1874519"/>
          </a:xfrm>
          <a:prstGeom prst="roundRect">
            <a:avLst/>
          </a:prstGeom>
          <a:solidFill>
            <a:srgbClr val="121A2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799832" y="2176272"/>
            <a:ext cx="1655064" cy="45720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>
              <a:defRPr sz="1400" b="1">
                <a:solidFill>
                  <a:srgbClr val="34D399"/>
                </a:solidFill>
              </a:defRPr>
            </a:pPr>
            <a:r>
              <a:t>Facade.API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81544" y="2770632"/>
            <a:ext cx="1691640" cy="50292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>
              <a:defRPr sz="1100" b="0">
                <a:solidFill>
                  <a:srgbClr val="EEF2F7"/>
                </a:solidFill>
              </a:defRPr>
            </a:pPr>
            <a:r>
              <a:t>Чому обрано: контракт backend-команди</a:t>
            </a:r>
          </a:p>
        </p:txBody>
      </p:sp>
      <p:sp>
        <p:nvSpPr>
          <p:cNvPr id="39" name="Chevron 38"/>
          <p:cNvSpPr/>
          <p:nvPr/>
        </p:nvSpPr>
        <p:spPr>
          <a:xfrm>
            <a:off x="9701784" y="2587752"/>
            <a:ext cx="164592" cy="502920"/>
          </a:xfrm>
          <a:prstGeom prst="chevron">
            <a:avLst/>
          </a:prstGeom>
          <a:solidFill>
            <a:srgbClr val="2A4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9948672" y="1947672"/>
            <a:ext cx="2057400" cy="1874519"/>
          </a:xfrm>
          <a:prstGeom prst="roundRect">
            <a:avLst/>
          </a:prstGeom>
          <a:solidFill>
            <a:srgbClr val="0709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9912096" y="1901952"/>
            <a:ext cx="2057400" cy="1874519"/>
          </a:xfrm>
          <a:prstGeom prst="roundRect">
            <a:avLst/>
          </a:prstGeom>
          <a:solidFill>
            <a:srgbClr val="121A2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113264" y="2176272"/>
            <a:ext cx="1655064" cy="45720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>
              <a:defRPr sz="1400" b="1">
                <a:solidFill>
                  <a:srgbClr val="FB923C"/>
                </a:solidFill>
              </a:defRPr>
            </a:pPr>
            <a:r>
              <a:t>Demo + mock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094976" y="2770632"/>
            <a:ext cx="1691640" cy="50292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>
              <a:defRPr sz="1100" b="0">
                <a:solidFill>
                  <a:srgbClr val="EEF2F7"/>
                </a:solidFill>
              </a:defRPr>
            </a:pPr>
            <a:r>
              <a:t>Чому обрано: стабільна демонстрація на захисті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042416" y="4690872"/>
            <a:ext cx="10149840" cy="960120"/>
          </a:xfrm>
          <a:prstGeom prst="roundRect">
            <a:avLst/>
          </a:prstGeom>
          <a:solidFill>
            <a:srgbClr val="0709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1005840" y="4645152"/>
            <a:ext cx="10149840" cy="960120"/>
          </a:xfrm>
          <a:prstGeom prst="roundRect">
            <a:avLst/>
          </a:prstGeom>
          <a:solidFill>
            <a:srgbClr val="1B26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325880" y="4901184"/>
            <a:ext cx="9601200" cy="41148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300" b="0">
                <a:solidFill>
                  <a:srgbClr val="EEF2F7"/>
                </a:solidFill>
              </a:defRPr>
            </a:pPr>
            <a:r>
              <a:t>Результат рішення: Frontend керує станом через Context API та API-клієнт; backend і БД — зона backend-команди, ми показуємо готовий клієнтський шар.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46920" y="320040"/>
            <a:ext cx="2286000" cy="2286000"/>
          </a:xfrm>
          <a:prstGeom prst="ellipse">
            <a:avLst/>
          </a:prstGeom>
          <a:solidFill>
            <a:srgbClr val="122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20040" y="4983480"/>
            <a:ext cx="1417320" cy="1417320"/>
          </a:xfrm>
          <a:prstGeom prst="ellipse">
            <a:avLst/>
          </a:prstGeom>
          <a:solidFill>
            <a:srgbClr val="1618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0080"/>
            <a:ext cx="1219169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18872"/>
            <a:ext cx="420624" cy="384048"/>
          </a:xfrm>
          <a:prstGeom prst="roundRect">
            <a:avLst/>
          </a:prstGeom>
          <a:solidFill>
            <a:srgbClr val="0A66C2"/>
          </a:solidFill>
          <a:ln>
            <a:solidFill>
              <a:srgbClr val="0A66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" y="173736"/>
            <a:ext cx="1417320" cy="22860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100" b="1">
                <a:solidFill>
                  <a:srgbClr val="EEF2F7"/>
                </a:solidFill>
              </a:defRPr>
            </a:pPr>
            <a:r>
              <a:t>LinkedIn Clone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331720" y="128016"/>
            <a:ext cx="1481328" cy="256032"/>
          </a:xfrm>
          <a:prstGeom prst="roundRect">
            <a:avLst/>
          </a:prstGeom>
          <a:solidFill>
            <a:srgbClr val="C4B5FD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41824"/>
                </a:solidFill>
              </a:defRPr>
            </a:pPr>
            <a:r>
              <a:t>Головна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922776" y="128016"/>
            <a:ext cx="1481328" cy="256032"/>
          </a:xfrm>
          <a:prstGeom prst="roundRect">
            <a:avLst/>
          </a:prstGeom>
          <a:solidFill>
            <a:srgbClr val="1B26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94A3B8"/>
                </a:solidFill>
              </a:defRPr>
            </a:pPr>
            <a:r>
              <a:t>Мережа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513832" y="128016"/>
            <a:ext cx="1481328" cy="256032"/>
          </a:xfrm>
          <a:prstGeom prst="roundRect">
            <a:avLst/>
          </a:prstGeom>
          <a:solidFill>
            <a:srgbClr val="1B26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94A3B8"/>
                </a:solidFill>
              </a:defRPr>
            </a:pPr>
            <a:r>
              <a:t>Вакансії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04888" y="128016"/>
            <a:ext cx="1481328" cy="256032"/>
          </a:xfrm>
          <a:prstGeom prst="roundRect">
            <a:avLst/>
          </a:prstGeom>
          <a:solidFill>
            <a:srgbClr val="1B26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94A3B8"/>
                </a:solidFill>
              </a:defRPr>
            </a:pPr>
            <a:r>
              <a:t>Чат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95944" y="128016"/>
            <a:ext cx="1481328" cy="256032"/>
          </a:xfrm>
          <a:prstGeom prst="roundRect">
            <a:avLst/>
          </a:prstGeom>
          <a:solidFill>
            <a:srgbClr val="1B26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94A3B8"/>
                </a:solidFill>
              </a:defRPr>
            </a:pPr>
            <a:r>
              <a:t>Профіль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6693408"/>
            <a:ext cx="4770663" cy="164592"/>
          </a:xfrm>
          <a:prstGeom prst="rect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6684264"/>
            <a:ext cx="2103120" cy="10972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</a:defRPr>
            </a:pPr>
            <a:r>
              <a:t>LinkedIn Diplom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47120" y="6684264"/>
            <a:ext cx="822960" cy="10972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r">
              <a:defRPr sz="800" b="0">
                <a:solidFill>
                  <a:srgbClr val="94A3B8"/>
                </a:solidFill>
              </a:defRPr>
            </a:pPr>
            <a:r>
              <a:t>9/23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786384"/>
            <a:ext cx="10972800" cy="50292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2400" b="1">
                <a:solidFill>
                  <a:srgbClr val="EEF2F7"/>
                </a:solidFill>
              </a:defRPr>
            </a:pPr>
            <a:r>
              <a:t>8. Звіт: Маршрутизація frontend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1261872"/>
            <a:ext cx="10424160" cy="29260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React Router, guarded routes та demo-вхід без live-реєстрації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1673352"/>
            <a:ext cx="10652760" cy="4526280"/>
          </a:xfrm>
          <a:prstGeom prst="roundRect">
            <a:avLst/>
          </a:prstGeom>
          <a:solidFill>
            <a:srgbClr val="0709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86384" y="1627632"/>
            <a:ext cx="10652760" cy="4526280"/>
          </a:xfrm>
          <a:prstGeom prst="roundRect">
            <a:avLst/>
          </a:prstGeom>
          <a:solidFill>
            <a:srgbClr val="121A2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115568" y="1975104"/>
            <a:ext cx="2834640" cy="1353312"/>
          </a:xfrm>
          <a:prstGeom prst="roundRect">
            <a:avLst/>
          </a:prstGeom>
          <a:solidFill>
            <a:srgbClr val="1B26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35024" y="2203704"/>
            <a:ext cx="2423160" cy="25603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800" b="1">
                <a:solidFill>
                  <a:srgbClr val="C4B5FD"/>
                </a:solidFill>
              </a:defRPr>
            </a:pPr>
            <a:r>
              <a:t>/auth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35024" y="2633472"/>
            <a:ext cx="2423160" cy="402336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150" b="0">
                <a:solidFill>
                  <a:srgbClr val="EEF2F7"/>
                </a:solidFill>
              </a:defRPr>
            </a:pPr>
            <a:r>
              <a:t>Роль у рішенні: публічний маршрут, social demo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425696" y="1975104"/>
            <a:ext cx="2834640" cy="1353312"/>
          </a:xfrm>
          <a:prstGeom prst="roundRect">
            <a:avLst/>
          </a:prstGeom>
          <a:solidFill>
            <a:srgbClr val="1B26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45152" y="2203704"/>
            <a:ext cx="2423160" cy="25603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800" b="1">
                <a:solidFill>
                  <a:srgbClr val="C4B5FD"/>
                </a:solidFill>
              </a:defRPr>
            </a:pPr>
            <a:r>
              <a:t>RequireAuth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45152" y="2633472"/>
            <a:ext cx="2423160" cy="402336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150" b="0">
                <a:solidFill>
                  <a:srgbClr val="EEF2F7"/>
                </a:solidFill>
              </a:defRPr>
            </a:pPr>
            <a:r>
              <a:t>Роль у рішенні: захист приватних сторінок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35824" y="1975104"/>
            <a:ext cx="2834640" cy="1353312"/>
          </a:xfrm>
          <a:prstGeom prst="roundRect">
            <a:avLst/>
          </a:prstGeom>
          <a:solidFill>
            <a:srgbClr val="1B26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955280" y="2203704"/>
            <a:ext cx="2423160" cy="25603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800" b="1">
                <a:solidFill>
                  <a:srgbClr val="C4B5FD"/>
                </a:solidFill>
              </a:defRPr>
            </a:pPr>
            <a:r>
              <a:t>AuthBootstrapGate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55280" y="2633472"/>
            <a:ext cx="2423160" cy="402336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150" b="0">
                <a:solidFill>
                  <a:srgbClr val="EEF2F7"/>
                </a:solidFill>
              </a:defRPr>
            </a:pPr>
            <a:r>
              <a:t>Роль у рішенні: ініціалізація сесії при завантаженні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115568" y="3803904"/>
            <a:ext cx="2834640" cy="1353312"/>
          </a:xfrm>
          <a:prstGeom prst="roundRect">
            <a:avLst/>
          </a:prstGeom>
          <a:solidFill>
            <a:srgbClr val="1B26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335024" y="4032504"/>
            <a:ext cx="2423160" cy="25603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800" b="1">
                <a:solidFill>
                  <a:srgbClr val="C4B5FD"/>
                </a:solidFill>
              </a:defRPr>
            </a:pPr>
            <a:r>
              <a:t>/home … /profile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35024" y="4462272"/>
            <a:ext cx="2423160" cy="402336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150" b="0">
                <a:solidFill>
                  <a:srgbClr val="EEF2F7"/>
                </a:solidFill>
              </a:defRPr>
            </a:pPr>
            <a:r>
              <a:t>Роль у рішенні: приватні маршрути основних модулів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425696" y="3803904"/>
            <a:ext cx="2834640" cy="1353312"/>
          </a:xfrm>
          <a:prstGeom prst="roundRect">
            <a:avLst/>
          </a:prstGeom>
          <a:solidFill>
            <a:srgbClr val="1B26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645152" y="4032504"/>
            <a:ext cx="2423160" cy="25603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800" b="1">
                <a:solidFill>
                  <a:srgbClr val="C4B5FD"/>
                </a:solidFill>
              </a:defRPr>
            </a:pPr>
            <a:r>
              <a:t>PageTransitionOutlet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45152" y="4462272"/>
            <a:ext cx="2423160" cy="402336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150" b="0">
                <a:solidFill>
                  <a:srgbClr val="EEF2F7"/>
                </a:solidFill>
              </a:defRPr>
            </a:pPr>
            <a:r>
              <a:t>Роль у рішенні: анімації переходів між сторінками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735824" y="3803904"/>
            <a:ext cx="2834640" cy="1353312"/>
          </a:xfrm>
          <a:prstGeom prst="roundRect">
            <a:avLst/>
          </a:prstGeom>
          <a:solidFill>
            <a:srgbClr val="1B26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955280" y="4032504"/>
            <a:ext cx="2423160" cy="25603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800" b="1">
                <a:solidFill>
                  <a:srgbClr val="C4B5FD"/>
                </a:solidFill>
              </a:defRPr>
            </a:pPr>
            <a:r>
              <a:t>redirect / → /home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955280" y="4462272"/>
            <a:ext cx="2423160" cy="402336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150" b="0">
                <a:solidFill>
                  <a:srgbClr val="EEF2F7"/>
                </a:solidFill>
              </a:defRPr>
            </a:pPr>
            <a:r>
              <a:t>Роль у рішенні: стартовий сценарій після входу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46920" y="320040"/>
            <a:ext cx="2286000" cy="2286000"/>
          </a:xfrm>
          <a:prstGeom prst="ellipse">
            <a:avLst/>
          </a:prstGeom>
          <a:solidFill>
            <a:srgbClr val="122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20040" y="4983480"/>
            <a:ext cx="1417320" cy="1417320"/>
          </a:xfrm>
          <a:prstGeom prst="ellipse">
            <a:avLst/>
          </a:prstGeom>
          <a:solidFill>
            <a:srgbClr val="1618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0080"/>
            <a:ext cx="1219169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18872"/>
            <a:ext cx="420624" cy="384048"/>
          </a:xfrm>
          <a:prstGeom prst="roundRect">
            <a:avLst/>
          </a:prstGeom>
          <a:solidFill>
            <a:srgbClr val="0A66C2"/>
          </a:solidFill>
          <a:ln>
            <a:solidFill>
              <a:srgbClr val="0A66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" y="173736"/>
            <a:ext cx="1417320" cy="22860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100" b="1">
                <a:solidFill>
                  <a:srgbClr val="EEF2F7"/>
                </a:solidFill>
              </a:defRPr>
            </a:pPr>
            <a:r>
              <a:t>LinkedIn Clone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331720" y="128016"/>
            <a:ext cx="1481328" cy="256032"/>
          </a:xfrm>
          <a:prstGeom prst="roundRect">
            <a:avLst/>
          </a:prstGeom>
          <a:solidFill>
            <a:srgbClr val="C4B5FD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41824"/>
                </a:solidFill>
              </a:defRPr>
            </a:pPr>
            <a:r>
              <a:t>Головна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922776" y="128016"/>
            <a:ext cx="1481328" cy="256032"/>
          </a:xfrm>
          <a:prstGeom prst="roundRect">
            <a:avLst/>
          </a:prstGeom>
          <a:solidFill>
            <a:srgbClr val="1B26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94A3B8"/>
                </a:solidFill>
              </a:defRPr>
            </a:pPr>
            <a:r>
              <a:t>Мережа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513832" y="128016"/>
            <a:ext cx="1481328" cy="256032"/>
          </a:xfrm>
          <a:prstGeom prst="roundRect">
            <a:avLst/>
          </a:prstGeom>
          <a:solidFill>
            <a:srgbClr val="1B26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94A3B8"/>
                </a:solidFill>
              </a:defRPr>
            </a:pPr>
            <a:r>
              <a:t>Вакансії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04888" y="128016"/>
            <a:ext cx="1481328" cy="256032"/>
          </a:xfrm>
          <a:prstGeom prst="roundRect">
            <a:avLst/>
          </a:prstGeom>
          <a:solidFill>
            <a:srgbClr val="1B26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94A3B8"/>
                </a:solidFill>
              </a:defRPr>
            </a:pPr>
            <a:r>
              <a:t>Чат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95944" y="128016"/>
            <a:ext cx="1481328" cy="256032"/>
          </a:xfrm>
          <a:prstGeom prst="roundRect">
            <a:avLst/>
          </a:prstGeom>
          <a:solidFill>
            <a:srgbClr val="1B26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94A3B8"/>
                </a:solidFill>
              </a:defRPr>
            </a:pPr>
            <a:r>
              <a:t>Профіль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6693408"/>
            <a:ext cx="5300737" cy="164592"/>
          </a:xfrm>
          <a:prstGeom prst="rect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6684264"/>
            <a:ext cx="2103120" cy="10972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</a:defRPr>
            </a:pPr>
            <a:r>
              <a:t>LinkedIn Diplom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47120" y="6684264"/>
            <a:ext cx="822960" cy="10972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r">
              <a:defRPr sz="800" b="0">
                <a:solidFill>
                  <a:srgbClr val="94A3B8"/>
                </a:solidFill>
              </a:defRPr>
            </a:pPr>
            <a:r>
              <a:t>10/23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786384"/>
            <a:ext cx="10972800" cy="50292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2400" b="1">
                <a:solidFill>
                  <a:srgbClr val="EEF2F7"/>
                </a:solidFill>
              </a:defRPr>
            </a:pPr>
            <a:r>
              <a:t>9. Звіт: Demo-flow для захисту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1261872"/>
            <a:ext cx="10424160" cy="29260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Social demo, mock-дані, без live API</a:t>
            </a:r>
          </a:p>
        </p:txBody>
      </p:sp>
      <p:sp>
        <p:nvSpPr>
          <p:cNvPr id="20" name="Oval 19"/>
          <p:cNvSpPr/>
          <p:nvPr/>
        </p:nvSpPr>
        <p:spPr>
          <a:xfrm>
            <a:off x="822960" y="2331720"/>
            <a:ext cx="822960" cy="822960"/>
          </a:xfrm>
          <a:prstGeom prst="ellipse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2024" y="3300984"/>
            <a:ext cx="2084831" cy="530352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>
              <a:defRPr sz="1100" b="0">
                <a:solidFill>
                  <a:srgbClr val="EEF2F7"/>
                </a:solidFill>
              </a:defRPr>
            </a:pPr>
            <a:r>
              <a:t>Social demo</a:t>
            </a:r>
          </a:p>
        </p:txBody>
      </p:sp>
      <p:sp>
        <p:nvSpPr>
          <p:cNvPr id="22" name="Chevron 21"/>
          <p:cNvSpPr/>
          <p:nvPr/>
        </p:nvSpPr>
        <p:spPr>
          <a:xfrm>
            <a:off x="1700784" y="2587752"/>
            <a:ext cx="1014983" cy="310896"/>
          </a:xfrm>
          <a:prstGeom prst="chevron">
            <a:avLst/>
          </a:prstGeom>
          <a:solidFill>
            <a:srgbClr val="2A4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770632" y="2331720"/>
            <a:ext cx="822960" cy="822960"/>
          </a:xfrm>
          <a:prstGeom prst="ellipse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39696" y="3300984"/>
            <a:ext cx="2084831" cy="530352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>
              <a:defRPr sz="1100" b="0">
                <a:solidFill>
                  <a:srgbClr val="EEF2F7"/>
                </a:solidFill>
              </a:defRPr>
            </a:pPr>
            <a:r>
              <a:t>Профіль</a:t>
            </a:r>
          </a:p>
        </p:txBody>
      </p:sp>
      <p:sp>
        <p:nvSpPr>
          <p:cNvPr id="25" name="Chevron 24"/>
          <p:cNvSpPr/>
          <p:nvPr/>
        </p:nvSpPr>
        <p:spPr>
          <a:xfrm>
            <a:off x="3648456" y="2587752"/>
            <a:ext cx="1014983" cy="310896"/>
          </a:xfrm>
          <a:prstGeom prst="chevron">
            <a:avLst/>
          </a:prstGeom>
          <a:solidFill>
            <a:srgbClr val="2A4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718304" y="2331720"/>
            <a:ext cx="822960" cy="822960"/>
          </a:xfrm>
          <a:prstGeom prst="ellipse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87368" y="3300984"/>
            <a:ext cx="2084831" cy="530352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>
              <a:defRPr sz="1100" b="0">
                <a:solidFill>
                  <a:srgbClr val="EEF2F7"/>
                </a:solidFill>
              </a:defRPr>
            </a:pPr>
            <a:r>
              <a:t>Стрічка</a:t>
            </a:r>
          </a:p>
        </p:txBody>
      </p:sp>
      <p:sp>
        <p:nvSpPr>
          <p:cNvPr id="28" name="Chevron 27"/>
          <p:cNvSpPr/>
          <p:nvPr/>
        </p:nvSpPr>
        <p:spPr>
          <a:xfrm>
            <a:off x="5596128" y="2587752"/>
            <a:ext cx="1014983" cy="310896"/>
          </a:xfrm>
          <a:prstGeom prst="chevron">
            <a:avLst/>
          </a:prstGeom>
          <a:solidFill>
            <a:srgbClr val="2A4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665976" y="2331720"/>
            <a:ext cx="822960" cy="82296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35040" y="3300984"/>
            <a:ext cx="2084831" cy="530352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>
              <a:defRPr sz="1100" b="0">
                <a:solidFill>
                  <a:srgbClr val="EEF2F7"/>
                </a:solidFill>
              </a:defRPr>
            </a:pPr>
            <a:r>
              <a:t>Спільноти</a:t>
            </a:r>
          </a:p>
        </p:txBody>
      </p:sp>
      <p:sp>
        <p:nvSpPr>
          <p:cNvPr id="31" name="Chevron 30"/>
          <p:cNvSpPr/>
          <p:nvPr/>
        </p:nvSpPr>
        <p:spPr>
          <a:xfrm>
            <a:off x="7543800" y="2587752"/>
            <a:ext cx="1014983" cy="310896"/>
          </a:xfrm>
          <a:prstGeom prst="chevron">
            <a:avLst/>
          </a:prstGeom>
          <a:solidFill>
            <a:srgbClr val="2A4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613648" y="2331720"/>
            <a:ext cx="822960" cy="82296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82712" y="3300984"/>
            <a:ext cx="2084831" cy="530352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>
              <a:defRPr sz="1100" b="0">
                <a:solidFill>
                  <a:srgbClr val="EEF2F7"/>
                </a:solidFill>
              </a:defRPr>
            </a:pPr>
            <a:r>
              <a:t>Вакансії</a:t>
            </a:r>
          </a:p>
        </p:txBody>
      </p:sp>
      <p:sp>
        <p:nvSpPr>
          <p:cNvPr id="34" name="Chevron 33"/>
          <p:cNvSpPr/>
          <p:nvPr/>
        </p:nvSpPr>
        <p:spPr>
          <a:xfrm>
            <a:off x="9491472" y="2587752"/>
            <a:ext cx="1014983" cy="310896"/>
          </a:xfrm>
          <a:prstGeom prst="chevron">
            <a:avLst/>
          </a:prstGeom>
          <a:solidFill>
            <a:srgbClr val="2A4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0561319" y="2331720"/>
            <a:ext cx="822960" cy="82296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930384" y="3300984"/>
            <a:ext cx="2084831" cy="530352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>
              <a:defRPr sz="1100" b="0">
                <a:solidFill>
                  <a:srgbClr val="EEF2F7"/>
                </a:solidFill>
              </a:defRPr>
            </a:pPr>
            <a:r>
              <a:t>Чати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179576" y="4846320"/>
            <a:ext cx="9829800" cy="822960"/>
          </a:xfrm>
          <a:prstGeom prst="roundRect">
            <a:avLst/>
          </a:prstGeom>
          <a:solidFill>
            <a:srgbClr val="0709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1143000" y="4800600"/>
            <a:ext cx="9829800" cy="822960"/>
          </a:xfrm>
          <a:prstGeom prst="roundRect">
            <a:avLst/>
          </a:prstGeom>
          <a:solidFill>
            <a:srgbClr val="1B26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417320" y="4956048"/>
            <a:ext cx="9281160" cy="38404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>
              <a:defRPr sz="1300" b="0">
                <a:solidFill>
                  <a:srgbClr val="EEF2F7"/>
                </a:solidFill>
              </a:defRPr>
            </a:pPr>
            <a:r>
              <a:t>Звітний результат: На захисті використовуємо social demo і mock-дані — без live-реєстрації та без залежності від нестабільного API.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46920" y="320040"/>
            <a:ext cx="2286000" cy="2286000"/>
          </a:xfrm>
          <a:prstGeom prst="ellipse">
            <a:avLst/>
          </a:prstGeom>
          <a:solidFill>
            <a:srgbClr val="122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20040" y="4983480"/>
            <a:ext cx="1417320" cy="1417320"/>
          </a:xfrm>
          <a:prstGeom prst="ellipse">
            <a:avLst/>
          </a:prstGeom>
          <a:solidFill>
            <a:srgbClr val="1618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0080"/>
            <a:ext cx="1219169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18872"/>
            <a:ext cx="420624" cy="384048"/>
          </a:xfrm>
          <a:prstGeom prst="roundRect">
            <a:avLst/>
          </a:prstGeom>
          <a:solidFill>
            <a:srgbClr val="0A66C2"/>
          </a:solidFill>
          <a:ln>
            <a:solidFill>
              <a:srgbClr val="0A66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" y="173736"/>
            <a:ext cx="1417320" cy="22860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100" b="1">
                <a:solidFill>
                  <a:srgbClr val="EEF2F7"/>
                </a:solidFill>
              </a:defRPr>
            </a:pPr>
            <a:r>
              <a:t>LinkedIn Clone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331720" y="128016"/>
            <a:ext cx="1481328" cy="256032"/>
          </a:xfrm>
          <a:prstGeom prst="roundRect">
            <a:avLst/>
          </a:prstGeom>
          <a:solidFill>
            <a:srgbClr val="1B26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94A3B8"/>
                </a:solidFill>
              </a:defRPr>
            </a:pPr>
            <a:r>
              <a:t>Головна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922776" y="128016"/>
            <a:ext cx="1481328" cy="256032"/>
          </a:xfrm>
          <a:prstGeom prst="roundRect">
            <a:avLst/>
          </a:prstGeom>
          <a:solidFill>
            <a:srgbClr val="1B26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94A3B8"/>
                </a:solidFill>
              </a:defRPr>
            </a:pPr>
            <a:r>
              <a:t>Мережа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513832" y="128016"/>
            <a:ext cx="1481328" cy="256032"/>
          </a:xfrm>
          <a:prstGeom prst="roundRect">
            <a:avLst/>
          </a:prstGeom>
          <a:solidFill>
            <a:srgbClr val="1B26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94A3B8"/>
                </a:solidFill>
              </a:defRPr>
            </a:pPr>
            <a:r>
              <a:t>Вакансії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04888" y="128016"/>
            <a:ext cx="1481328" cy="256032"/>
          </a:xfrm>
          <a:prstGeom prst="roundRect">
            <a:avLst/>
          </a:prstGeom>
          <a:solidFill>
            <a:srgbClr val="1B26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94A3B8"/>
                </a:solidFill>
              </a:defRPr>
            </a:pPr>
            <a:r>
              <a:t>Чат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95944" y="128016"/>
            <a:ext cx="1481328" cy="256032"/>
          </a:xfrm>
          <a:prstGeom prst="roundRect">
            <a:avLst/>
          </a:prstGeom>
          <a:solidFill>
            <a:srgbClr val="1B26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94A3B8"/>
                </a:solidFill>
              </a:defRPr>
            </a:pPr>
            <a:r>
              <a:t>Профіль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6693408"/>
            <a:ext cx="5830810" cy="164592"/>
          </a:xfrm>
          <a:prstGeom prst="rect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6684264"/>
            <a:ext cx="2103120" cy="10972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</a:defRPr>
            </a:pPr>
            <a:r>
              <a:t>LinkedIn Diplom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47120" y="6684264"/>
            <a:ext cx="822960" cy="10972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r">
              <a:defRPr sz="800" b="0">
                <a:solidFill>
                  <a:srgbClr val="94A3B8"/>
                </a:solidFill>
              </a:defRPr>
            </a:pPr>
            <a:r>
              <a:t>11/23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786384"/>
            <a:ext cx="10972800" cy="50292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2400" b="1">
                <a:solidFill>
                  <a:srgbClr val="EEF2F7"/>
                </a:solidFill>
              </a:defRPr>
            </a:pPr>
            <a:r>
              <a:t>10. Звіт: Адмін-панель платформи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1261872"/>
            <a:ext cx="10424160" cy="29260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Звітний огляд: Окремий UI-контур /admin для модерації та керування LinkedIn Clone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8" y="1673352"/>
            <a:ext cx="3182112" cy="3767328"/>
          </a:xfrm>
          <a:prstGeom prst="roundRect">
            <a:avLst/>
          </a:prstGeom>
          <a:solidFill>
            <a:srgbClr val="0709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13232" y="1627632"/>
            <a:ext cx="3182112" cy="3767328"/>
          </a:xfrm>
          <a:prstGeom prst="roundRect">
            <a:avLst/>
          </a:prstGeom>
          <a:solidFill>
            <a:srgbClr val="121A2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1810512"/>
            <a:ext cx="2743200" cy="25603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300" b="1">
                <a:solidFill>
                  <a:srgbClr val="C4B5FD"/>
                </a:solidFill>
              </a:defRPr>
            </a:pPr>
            <a:r>
              <a:t>Доступ і архітектура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2212848"/>
            <a:ext cx="274320" cy="27432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>
              <a:defRPr sz="1400" b="1">
                <a:solidFill>
                  <a:srgbClr val="34D399"/>
                </a:solidFill>
              </a:defRPr>
            </a:pPr>
            <a: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70432" y="2176272"/>
            <a:ext cx="2496312" cy="64008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900" b="0">
                <a:solidFill>
                  <a:srgbClr val="EEF2F7"/>
                </a:solidFill>
              </a:defRPr>
            </a:pPr>
            <a:r>
              <a:t>/admin/* → RequireAuth + RequireAdmin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2889504"/>
            <a:ext cx="274320" cy="27432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>
              <a:defRPr sz="1400" b="1">
                <a:solidFill>
                  <a:srgbClr val="34D399"/>
                </a:solidFill>
              </a:defRPr>
            </a:pPr>
            <a: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70432" y="2852928"/>
            <a:ext cx="2496312" cy="64008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900" b="0">
                <a:solidFill>
                  <a:srgbClr val="EEF2F7"/>
                </a:solidFill>
              </a:defRPr>
            </a:pPr>
            <a:r>
              <a:t>JWT role Admin (user.isAdmin)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3566160"/>
            <a:ext cx="274320" cy="27432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>
              <a:defRPr sz="1400" b="1">
                <a:solidFill>
                  <a:srgbClr val="34D399"/>
                </a:solidFill>
              </a:defRPr>
            </a:pPr>
            <a: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70432" y="3529584"/>
            <a:ext cx="2496312" cy="64008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900" b="0">
                <a:solidFill>
                  <a:srgbClr val="EEF2F7"/>
                </a:solidFill>
              </a:defRPr>
            </a:pPr>
            <a:r>
              <a:t>Без ролі — AdminForbiddenPage (403)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242816"/>
            <a:ext cx="274320" cy="27432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>
              <a:defRPr sz="1400" b="1">
                <a:solidFill>
                  <a:srgbClr val="34D399"/>
                </a:solidFill>
              </a:defRPr>
            </a:pPr>
            <a: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70432" y="4206240"/>
            <a:ext cx="2496312" cy="64008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900" b="0">
                <a:solidFill>
                  <a:srgbClr val="EEF2F7"/>
                </a:solidFill>
              </a:defRPr>
            </a:pPr>
            <a:r>
              <a:t>AdminLayout: sidebar з 7 розділами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4919472"/>
            <a:ext cx="274320" cy="27432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>
              <a:defRPr sz="1400" b="1">
                <a:solidFill>
                  <a:srgbClr val="34D399"/>
                </a:solidFill>
              </a:defRPr>
            </a:pPr>
            <a: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70432" y="4882896"/>
            <a:ext cx="2496312" cy="64008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900" b="0">
                <a:solidFill>
                  <a:srgbClr val="EEF2F7"/>
                </a:solidFill>
              </a:defRPr>
            </a:pPr>
            <a:r>
              <a:t>adminApi.js → /api/admin/*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078224" y="1673352"/>
            <a:ext cx="7790688" cy="3767328"/>
          </a:xfrm>
          <a:prstGeom prst="roundRect">
            <a:avLst/>
          </a:prstGeom>
          <a:solidFill>
            <a:srgbClr val="0709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4041648" y="1627632"/>
            <a:ext cx="7790688" cy="3767328"/>
          </a:xfrm>
          <a:prstGeom prst="roundRect">
            <a:avLst/>
          </a:prstGeom>
          <a:solidFill>
            <a:srgbClr val="1B26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224528" y="1810512"/>
            <a:ext cx="4114800" cy="25603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300" b="1">
                <a:solidFill>
                  <a:srgbClr val="38BDF8"/>
                </a:solidFill>
              </a:defRPr>
            </a:pPr>
            <a:r>
              <a:t>Розділи admin-панелі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187952" y="2231136"/>
            <a:ext cx="342900" cy="274320"/>
          </a:xfrm>
          <a:prstGeom prst="roundRect">
            <a:avLst/>
          </a:prstGeom>
          <a:solidFill>
            <a:srgbClr val="0A66C2"/>
          </a:solidFill>
          <a:ln>
            <a:solidFill>
              <a:srgbClr val="0A66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DB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53712" y="2249424"/>
            <a:ext cx="1234440" cy="20116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150" b="1">
                <a:solidFill>
                  <a:srgbClr val="EEF2F7"/>
                </a:solidFill>
              </a:defRPr>
            </a:pPr>
            <a:r>
              <a:t>Dashboard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06440" y="2249424"/>
            <a:ext cx="5669280" cy="329184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</a:defRPr>
            </a:pPr>
            <a:r>
              <a:t>stats: users, posts, vacancies, events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539728" y="2249424"/>
            <a:ext cx="274320" cy="27432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>
              <a:defRPr sz="1400" b="1">
                <a:solidFill>
                  <a:srgbClr val="34D399"/>
                </a:solidFill>
              </a:defRPr>
            </a:pPr>
            <a:r>
              <a:t>✓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187952" y="2633472"/>
            <a:ext cx="7479792" cy="9144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4187952" y="2706624"/>
            <a:ext cx="342900" cy="274320"/>
          </a:xfrm>
          <a:prstGeom prst="roundRect">
            <a:avLst/>
          </a:prstGeom>
          <a:solidFill>
            <a:srgbClr val="8B5CF6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US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53712" y="2724912"/>
            <a:ext cx="1234440" cy="20116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150" b="1">
                <a:solidFill>
                  <a:srgbClr val="EEF2F7"/>
                </a:solidFill>
              </a:defRPr>
            </a:pPr>
            <a:r>
              <a:t>Users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806440" y="2724912"/>
            <a:ext cx="5669280" cy="329184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</a:defRPr>
            </a:pPr>
            <a:r>
              <a:t>list, filters, lock/unlock, roles, create user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539728" y="2724912"/>
            <a:ext cx="274320" cy="27432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>
              <a:defRPr sz="1400" b="1">
                <a:solidFill>
                  <a:srgbClr val="34D399"/>
                </a:solidFill>
              </a:defRPr>
            </a:pPr>
            <a:r>
              <a:t>✓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187952" y="3108960"/>
            <a:ext cx="7479792" cy="9144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4187952" y="3182112"/>
            <a:ext cx="342900" cy="274320"/>
          </a:xfrm>
          <a:prstGeom prst="round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CT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53712" y="3200400"/>
            <a:ext cx="1234440" cy="20116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150" b="1">
                <a:solidFill>
                  <a:srgbClr val="EEF2F7"/>
                </a:solidFill>
              </a:defRPr>
            </a:pPr>
            <a:r>
              <a:t>Content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806440" y="3200400"/>
            <a:ext cx="5669280" cy="329184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</a:defRPr>
            </a:pPr>
            <a:r>
              <a:t>moderation постів: search, delete/restore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539728" y="3200400"/>
            <a:ext cx="274320" cy="27432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>
              <a:defRPr sz="1400" b="1">
                <a:solidFill>
                  <a:srgbClr val="34D399"/>
                </a:solidFill>
              </a:defRPr>
            </a:pPr>
            <a:r>
              <a:t>✓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187952" y="3584448"/>
            <a:ext cx="7479792" cy="9144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4187952" y="3657600"/>
            <a:ext cx="342900" cy="274320"/>
          </a:xfrm>
          <a:prstGeom prst="roundRect">
            <a:avLst/>
          </a:prstGeom>
          <a:solidFill>
            <a:srgbClr val="34D399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CM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553712" y="3675887"/>
            <a:ext cx="1234440" cy="20116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150" b="1">
                <a:solidFill>
                  <a:srgbClr val="EEF2F7"/>
                </a:solidFill>
              </a:defRPr>
            </a:pPr>
            <a:r>
              <a:t>Comments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806440" y="3675887"/>
            <a:ext cx="5669280" cy="329184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</a:defRPr>
            </a:pPr>
            <a:r>
              <a:t>moderation коментарів до постів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539728" y="3675887"/>
            <a:ext cx="274320" cy="27432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>
              <a:defRPr sz="1400" b="1">
                <a:solidFill>
                  <a:srgbClr val="34D399"/>
                </a:solidFill>
              </a:defRPr>
            </a:pPr>
            <a:r>
              <a:t>✓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187952" y="4059936"/>
            <a:ext cx="7479792" cy="9144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4187952" y="4133087"/>
            <a:ext cx="342900" cy="274320"/>
          </a:xfrm>
          <a:prstGeom prst="roundRect">
            <a:avLst/>
          </a:prstGeom>
          <a:solidFill>
            <a:srgbClr val="FB923C"/>
          </a:solidFill>
          <a:ln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JB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553712" y="4151376"/>
            <a:ext cx="1234440" cy="20116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150" b="1">
                <a:solidFill>
                  <a:srgbClr val="EEF2F7"/>
                </a:solidFill>
              </a:defRPr>
            </a:pPr>
            <a:r>
              <a:t>Jobs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806440" y="4151376"/>
            <a:ext cx="5669280" cy="329184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</a:defRPr>
            </a:pPr>
            <a:r>
              <a:t>moderation вакансій + recommended queries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1539728" y="4151376"/>
            <a:ext cx="274320" cy="27432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>
              <a:defRPr sz="1400" b="1">
                <a:solidFill>
                  <a:srgbClr val="34D399"/>
                </a:solidFill>
              </a:defRPr>
            </a:pPr>
            <a:r>
              <a:t>✓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187952" y="4535424"/>
            <a:ext cx="7479792" cy="9144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4187952" y="4608576"/>
            <a:ext cx="342900" cy="274320"/>
          </a:xfrm>
          <a:prstGeom prst="roundRect">
            <a:avLst/>
          </a:prstGeom>
          <a:solidFill>
            <a:srgbClr val="0A66C2"/>
          </a:solidFill>
          <a:ln>
            <a:solidFill>
              <a:srgbClr val="0A66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EV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553712" y="4626864"/>
            <a:ext cx="1234440" cy="20116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150" b="1">
                <a:solidFill>
                  <a:srgbClr val="EEF2F7"/>
                </a:solidFill>
              </a:defRPr>
            </a:pPr>
            <a:r>
              <a:t>Events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806440" y="4626864"/>
            <a:ext cx="5669280" cy="329184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</a:defRPr>
            </a:pPr>
            <a:r>
              <a:t>moderation подій: delete/restore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1539728" y="4626864"/>
            <a:ext cx="274320" cy="27432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>
              <a:defRPr sz="1400" b="1">
                <a:solidFill>
                  <a:srgbClr val="34D399"/>
                </a:solidFill>
              </a:defRPr>
            </a:pPr>
            <a:r>
              <a:t>✓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187952" y="5010912"/>
            <a:ext cx="7479792" cy="9144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ounded Rectangle 65"/>
          <p:cNvSpPr/>
          <p:nvPr/>
        </p:nvSpPr>
        <p:spPr>
          <a:xfrm>
            <a:off x="4187952" y="5084064"/>
            <a:ext cx="342900" cy="274320"/>
          </a:xfrm>
          <a:prstGeom prst="roundRect">
            <a:avLst/>
          </a:prstGeom>
          <a:solidFill>
            <a:srgbClr val="8B5CF6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RL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553712" y="5102352"/>
            <a:ext cx="1234440" cy="20116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150" b="1">
                <a:solidFill>
                  <a:srgbClr val="EEF2F7"/>
                </a:solidFill>
              </a:defRPr>
            </a:pPr>
            <a:r>
              <a:t>Roles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806440" y="5102352"/>
            <a:ext cx="5669280" cy="329184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</a:defRPr>
            </a:pPr>
            <a:r>
              <a:t>ролі User/Admin у drawer користувача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1539728" y="5102352"/>
            <a:ext cx="274320" cy="27432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>
              <a:defRPr sz="1400" b="1">
                <a:solidFill>
                  <a:srgbClr val="34D399"/>
                </a:solidFill>
              </a:defRPr>
            </a:pPr>
            <a:r>
              <a:t>✓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749808" y="5550407"/>
            <a:ext cx="11109960" cy="530352"/>
          </a:xfrm>
          <a:prstGeom prst="roundRect">
            <a:avLst/>
          </a:prstGeom>
          <a:solidFill>
            <a:srgbClr val="0709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713232" y="5504688"/>
            <a:ext cx="11109960" cy="530352"/>
          </a:xfrm>
          <a:prstGeom prst="roundRect">
            <a:avLst/>
          </a:prstGeom>
          <a:solidFill>
            <a:srgbClr val="1B26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914400" y="5614416"/>
            <a:ext cx="10698480" cy="310896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000" b="0">
                <a:solidFill>
                  <a:srgbClr val="EEF2F7"/>
                </a:solidFill>
              </a:defRPr>
            </a:pPr>
            <a:r>
              <a:t>Результат: UI адмінки на frontend; demo/mock — порожні дані; повний сценарій — Admin JWT + backend.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46920" y="320040"/>
            <a:ext cx="2286000" cy="2286000"/>
          </a:xfrm>
          <a:prstGeom prst="ellipse">
            <a:avLst/>
          </a:prstGeom>
          <a:solidFill>
            <a:srgbClr val="122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20040" y="4983480"/>
            <a:ext cx="1417320" cy="1417320"/>
          </a:xfrm>
          <a:prstGeom prst="ellipse">
            <a:avLst/>
          </a:prstGeom>
          <a:solidFill>
            <a:srgbClr val="1618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0080"/>
            <a:ext cx="1219169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18872"/>
            <a:ext cx="420624" cy="384048"/>
          </a:xfrm>
          <a:prstGeom prst="roundRect">
            <a:avLst/>
          </a:prstGeom>
          <a:solidFill>
            <a:srgbClr val="0A66C2"/>
          </a:solidFill>
          <a:ln>
            <a:solidFill>
              <a:srgbClr val="0A66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" y="173736"/>
            <a:ext cx="1417320" cy="22860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100" b="1">
                <a:solidFill>
                  <a:srgbClr val="EEF2F7"/>
                </a:solidFill>
              </a:defRPr>
            </a:pPr>
            <a:r>
              <a:t>LinkedIn Clone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331720" y="128016"/>
            <a:ext cx="1481328" cy="256032"/>
          </a:xfrm>
          <a:prstGeom prst="roundRect">
            <a:avLst/>
          </a:prstGeom>
          <a:solidFill>
            <a:srgbClr val="1B26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94A3B8"/>
                </a:solidFill>
              </a:defRPr>
            </a:pPr>
            <a:r>
              <a:t>Головна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922776" y="128016"/>
            <a:ext cx="1481328" cy="256032"/>
          </a:xfrm>
          <a:prstGeom prst="roundRect">
            <a:avLst/>
          </a:prstGeom>
          <a:solidFill>
            <a:srgbClr val="1B26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94A3B8"/>
                </a:solidFill>
              </a:defRPr>
            </a:pPr>
            <a:r>
              <a:t>Мережа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513832" y="128016"/>
            <a:ext cx="1481328" cy="256032"/>
          </a:xfrm>
          <a:prstGeom prst="roundRect">
            <a:avLst/>
          </a:prstGeom>
          <a:solidFill>
            <a:srgbClr val="1B26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94A3B8"/>
                </a:solidFill>
              </a:defRPr>
            </a:pPr>
            <a:r>
              <a:t>Вакансії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04888" y="128016"/>
            <a:ext cx="1481328" cy="256032"/>
          </a:xfrm>
          <a:prstGeom prst="roundRect">
            <a:avLst/>
          </a:prstGeom>
          <a:solidFill>
            <a:srgbClr val="1B26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94A3B8"/>
                </a:solidFill>
              </a:defRPr>
            </a:pPr>
            <a:r>
              <a:t>Чат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95944" y="128016"/>
            <a:ext cx="1481328" cy="256032"/>
          </a:xfrm>
          <a:prstGeom prst="roundRect">
            <a:avLst/>
          </a:prstGeom>
          <a:solidFill>
            <a:srgbClr val="1B26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94A3B8"/>
                </a:solidFill>
              </a:defRPr>
            </a:pPr>
            <a:r>
              <a:t>Профіль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6693408"/>
            <a:ext cx="6360884" cy="164592"/>
          </a:xfrm>
          <a:prstGeom prst="rect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6684264"/>
            <a:ext cx="2103120" cy="10972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</a:defRPr>
            </a:pPr>
            <a:r>
              <a:t>LinkedIn Diplom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47120" y="6684264"/>
            <a:ext cx="822960" cy="10972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r">
              <a:defRPr sz="800" b="0">
                <a:solidFill>
                  <a:srgbClr val="94A3B8"/>
                </a:solidFill>
              </a:defRPr>
            </a:pPr>
            <a:r>
              <a:t>12/23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786384"/>
            <a:ext cx="10972800" cy="50292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2400" b="1">
                <a:solidFill>
                  <a:srgbClr val="EEF2F7"/>
                </a:solidFill>
              </a:defRPr>
            </a:pPr>
            <a:r>
              <a:t>11. Звіт: Розподіл frontend-роботи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68096" y="1828800"/>
            <a:ext cx="5440680" cy="4617720"/>
          </a:xfrm>
          <a:prstGeom prst="roundRect">
            <a:avLst/>
          </a:prstGeom>
          <a:solidFill>
            <a:srgbClr val="0709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31520" y="1783080"/>
            <a:ext cx="5440680" cy="4617720"/>
          </a:xfrm>
          <a:prstGeom prst="roundRect">
            <a:avLst/>
          </a:prstGeom>
          <a:solidFill>
            <a:srgbClr val="121A2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025896" y="1828800"/>
            <a:ext cx="5440680" cy="4617720"/>
          </a:xfrm>
          <a:prstGeom prst="roundRect">
            <a:avLst/>
          </a:prstGeom>
          <a:solidFill>
            <a:srgbClr val="0709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989320" y="1783080"/>
            <a:ext cx="5440680" cy="4617720"/>
          </a:xfrm>
          <a:prstGeom prst="roundRect">
            <a:avLst/>
          </a:prstGeom>
          <a:solidFill>
            <a:srgbClr val="121A2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31520" y="1783080"/>
            <a:ext cx="5440680" cy="45720"/>
          </a:xfrm>
          <a:prstGeom prst="rect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989320" y="1783080"/>
            <a:ext cx="5440680" cy="45720"/>
          </a:xfrm>
          <a:prstGeom prst="rect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60120" y="1993392"/>
            <a:ext cx="2240280" cy="347472"/>
          </a:xfrm>
          <a:prstGeom prst="roundRect">
            <a:avLst/>
          </a:prstGeom>
          <a:solidFill>
            <a:srgbClr val="2A4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217920" y="1993392"/>
            <a:ext cx="2697480" cy="347472"/>
          </a:xfrm>
          <a:prstGeom prst="roundRect">
            <a:avLst/>
          </a:prstGeom>
          <a:solidFill>
            <a:srgbClr val="2A4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97280" y="2057400"/>
            <a:ext cx="1920240" cy="18288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</a:defRPr>
            </a:pPr>
            <a:r>
              <a:t>Ямчук Тимур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80" y="2057400"/>
            <a:ext cx="2651760" cy="18288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</a:defRPr>
            </a:pPr>
            <a:r>
              <a:t>Андрій Ротарь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32688" y="2377440"/>
            <a:ext cx="5029200" cy="1173480"/>
          </a:xfrm>
          <a:prstGeom prst="roundRect">
            <a:avLst/>
          </a:prstGeom>
          <a:solidFill>
            <a:srgbClr val="1B26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87552" y="2505456"/>
            <a:ext cx="64008" cy="917448"/>
          </a:xfrm>
          <a:prstGeom prst="rect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70432" y="2450592"/>
            <a:ext cx="4617720" cy="1118616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150" b="0">
                <a:solidFill>
                  <a:srgbClr val="EEF2F7"/>
                </a:solidFill>
              </a:defRPr>
            </a:pPr>
            <a:r>
              <a:t>Зона відповідальності: Вікно реєстрації та auth UX.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32688" y="3642360"/>
            <a:ext cx="5029200" cy="1173480"/>
          </a:xfrm>
          <a:prstGeom prst="roundRect">
            <a:avLst/>
          </a:prstGeom>
          <a:solidFill>
            <a:srgbClr val="1B26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87552" y="3770375"/>
            <a:ext cx="64008" cy="917448"/>
          </a:xfrm>
          <a:prstGeom prst="rect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70432" y="3715512"/>
            <a:ext cx="4617720" cy="1118616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150" b="0">
                <a:solidFill>
                  <a:srgbClr val="EEF2F7"/>
                </a:solidFill>
              </a:defRPr>
            </a:pPr>
            <a:r>
              <a:t>Зона відповідальності: Сторінка вакансій і пошук роботи.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32688" y="4907280"/>
            <a:ext cx="5029200" cy="1173480"/>
          </a:xfrm>
          <a:prstGeom prst="roundRect">
            <a:avLst/>
          </a:prstGeom>
          <a:solidFill>
            <a:srgbClr val="1B26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87552" y="5035296"/>
            <a:ext cx="64008" cy="917448"/>
          </a:xfrm>
          <a:prstGeom prst="rect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70432" y="4980432"/>
            <a:ext cx="4617720" cy="1118616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150" b="0">
                <a:solidFill>
                  <a:srgbClr val="EEF2F7"/>
                </a:solidFill>
              </a:defRPr>
            </a:pPr>
            <a:r>
              <a:t>Зона відповідальності: Чати, дизайн і особистий кабінет.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190488" y="2377440"/>
            <a:ext cx="5029200" cy="1173480"/>
          </a:xfrm>
          <a:prstGeom prst="roundRect">
            <a:avLst/>
          </a:prstGeom>
          <a:solidFill>
            <a:srgbClr val="1B26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245352" y="2505456"/>
            <a:ext cx="64008" cy="917448"/>
          </a:xfrm>
          <a:prstGeom prst="rect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28232" y="2450592"/>
            <a:ext cx="4617720" cy="1118616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150" b="0">
                <a:solidFill>
                  <a:srgbClr val="EEF2F7"/>
                </a:solidFill>
              </a:defRPr>
            </a:pPr>
            <a:r>
              <a:t>Зона відповідальності: Головний екран і динамічна контентна стрічка (Feed).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190488" y="3642360"/>
            <a:ext cx="5029200" cy="1173480"/>
          </a:xfrm>
          <a:prstGeom prst="roundRect">
            <a:avLst/>
          </a:prstGeom>
          <a:solidFill>
            <a:srgbClr val="1B26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45352" y="3770375"/>
            <a:ext cx="64008" cy="917448"/>
          </a:xfrm>
          <a:prstGeom prst="rect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28232" y="3715512"/>
            <a:ext cx="4617720" cy="1118616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150" b="0">
                <a:solidFill>
                  <a:srgbClr val="EEF2F7"/>
                </a:solidFill>
              </a:defRPr>
            </a:pPr>
            <a:r>
              <a:t>Зона відповідальності: Архітектура Network: контакти, groups, pages, events.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190488" y="4907280"/>
            <a:ext cx="5029200" cy="1173480"/>
          </a:xfrm>
          <a:prstGeom prst="roundRect">
            <a:avLst/>
          </a:prstGeom>
          <a:solidFill>
            <a:srgbClr val="1B26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245352" y="5035296"/>
            <a:ext cx="64008" cy="917448"/>
          </a:xfrm>
          <a:prstGeom prst="rect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28232" y="4980432"/>
            <a:ext cx="4617720" cy="1118616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150" b="0">
                <a:solidFill>
                  <a:srgbClr val="EEF2F7"/>
                </a:solidFill>
              </a:defRPr>
            </a:pPr>
            <a:r>
              <a:t>Зона відповідальності: API-клієнт, demo-режим і підготовка до backend-інтеграції.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46920" y="320040"/>
            <a:ext cx="2286000" cy="2286000"/>
          </a:xfrm>
          <a:prstGeom prst="ellipse">
            <a:avLst/>
          </a:prstGeom>
          <a:solidFill>
            <a:srgbClr val="122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20040" y="4983480"/>
            <a:ext cx="1417320" cy="1417320"/>
          </a:xfrm>
          <a:prstGeom prst="ellipse">
            <a:avLst/>
          </a:prstGeom>
          <a:solidFill>
            <a:srgbClr val="1618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0080"/>
            <a:ext cx="1219169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18872"/>
            <a:ext cx="420624" cy="384048"/>
          </a:xfrm>
          <a:prstGeom prst="roundRect">
            <a:avLst/>
          </a:prstGeom>
          <a:solidFill>
            <a:srgbClr val="0A66C2"/>
          </a:solidFill>
          <a:ln>
            <a:solidFill>
              <a:srgbClr val="0A66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" y="173736"/>
            <a:ext cx="1417320" cy="22860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100" b="1">
                <a:solidFill>
                  <a:srgbClr val="EEF2F7"/>
                </a:solidFill>
              </a:defRPr>
            </a:pPr>
            <a:r>
              <a:t>LinkedIn Clone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331720" y="128016"/>
            <a:ext cx="1481328" cy="256032"/>
          </a:xfrm>
          <a:prstGeom prst="roundRect">
            <a:avLst/>
          </a:prstGeom>
          <a:solidFill>
            <a:srgbClr val="1B26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94A3B8"/>
                </a:solidFill>
              </a:defRPr>
            </a:pPr>
            <a:r>
              <a:t>Головна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922776" y="128016"/>
            <a:ext cx="1481328" cy="256032"/>
          </a:xfrm>
          <a:prstGeom prst="roundRect">
            <a:avLst/>
          </a:prstGeom>
          <a:solidFill>
            <a:srgbClr val="1B26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94A3B8"/>
                </a:solidFill>
              </a:defRPr>
            </a:pPr>
            <a:r>
              <a:t>Мережа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513832" y="128016"/>
            <a:ext cx="1481328" cy="256032"/>
          </a:xfrm>
          <a:prstGeom prst="roundRect">
            <a:avLst/>
          </a:prstGeom>
          <a:solidFill>
            <a:srgbClr val="1B26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94A3B8"/>
                </a:solidFill>
              </a:defRPr>
            </a:pPr>
            <a:r>
              <a:t>Вакансії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04888" y="128016"/>
            <a:ext cx="1481328" cy="256032"/>
          </a:xfrm>
          <a:prstGeom prst="roundRect">
            <a:avLst/>
          </a:prstGeom>
          <a:solidFill>
            <a:srgbClr val="1B26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94A3B8"/>
                </a:solidFill>
              </a:defRPr>
            </a:pPr>
            <a:r>
              <a:t>Чат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95944" y="128016"/>
            <a:ext cx="1481328" cy="256032"/>
          </a:xfrm>
          <a:prstGeom prst="roundRect">
            <a:avLst/>
          </a:prstGeom>
          <a:solidFill>
            <a:srgbClr val="C4B5FD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41824"/>
                </a:solidFill>
              </a:defRPr>
            </a:pPr>
            <a:r>
              <a:t>Профіль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6693408"/>
            <a:ext cx="6890958" cy="164592"/>
          </a:xfrm>
          <a:prstGeom prst="rect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6684264"/>
            <a:ext cx="2103120" cy="10972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</a:defRPr>
            </a:pPr>
            <a:r>
              <a:t>LinkedIn Diplom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47120" y="6684264"/>
            <a:ext cx="822960" cy="10972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r">
              <a:defRPr sz="800" b="0">
                <a:solidFill>
                  <a:srgbClr val="94A3B8"/>
                </a:solidFill>
              </a:defRPr>
            </a:pPr>
            <a:r>
              <a:t>13/23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786384"/>
            <a:ext cx="10972800" cy="50292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2400" b="1">
                <a:solidFill>
                  <a:srgbClr val="EEF2F7"/>
                </a:solidFill>
              </a:defRPr>
            </a:pPr>
            <a:r>
              <a:t>12. Звіт: Ямчук Тимур: вікно реєстрації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726119" y="1417320"/>
            <a:ext cx="2880360" cy="1005840"/>
          </a:xfrm>
          <a:prstGeom prst="roundRect">
            <a:avLst/>
          </a:prstGeom>
          <a:solidFill>
            <a:srgbClr val="0709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689543" y="1371600"/>
            <a:ext cx="2880360" cy="1005840"/>
          </a:xfrm>
          <a:prstGeom prst="roundRect">
            <a:avLst/>
          </a:prstGeom>
          <a:solidFill>
            <a:srgbClr val="121A2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835847" y="1499616"/>
            <a:ext cx="365760" cy="365760"/>
          </a:xfrm>
          <a:prstGeom prst="ellipse">
            <a:avLst/>
          </a:prstGeom>
          <a:solidFill>
            <a:srgbClr val="0A66C2"/>
          </a:solidFill>
          <a:ln>
            <a:solidFill>
              <a:srgbClr val="0A66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04143" y="1545336"/>
            <a:ext cx="274320" cy="27432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>
              <a:defRPr sz="1700" b="1">
                <a:solidFill>
                  <a:srgbClr val="34D399"/>
                </a:solidFill>
              </a:defRPr>
            </a:pPr>
            <a: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56471" y="1536192"/>
            <a:ext cx="1920239" cy="29260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>
              <a:defRPr sz="1300" b="1">
                <a:solidFill>
                  <a:srgbClr val="EEF2F7"/>
                </a:solidFill>
              </a:defRPr>
            </a:pPr>
            <a:r>
              <a:t>Auth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35847" y="1901952"/>
            <a:ext cx="2587752" cy="420624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950" b="0">
                <a:solidFill>
                  <a:srgbClr val="94A3B8"/>
                </a:solidFill>
              </a:defRPr>
            </a:pPr>
            <a:r>
              <a:t>реєстрація, login, ініціалізація сесії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" y="1600200"/>
            <a:ext cx="7775143" cy="84124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Обґрунтування рішення: Реєстрація є першою точкою входу користувача в платформу.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5256" y="2743200"/>
            <a:ext cx="10469880" cy="2697480"/>
          </a:xfrm>
          <a:prstGeom prst="roundRect">
            <a:avLst/>
          </a:prstGeom>
          <a:solidFill>
            <a:srgbClr val="0709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68680" y="2697480"/>
            <a:ext cx="10469880" cy="2697480"/>
          </a:xfrm>
          <a:prstGeom prst="roundRect">
            <a:avLst/>
          </a:prstGeom>
          <a:solidFill>
            <a:srgbClr val="121A2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152144" y="3090672"/>
            <a:ext cx="109728" cy="109728"/>
          </a:xfrm>
          <a:prstGeom prst="ellipse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380744" y="2999232"/>
            <a:ext cx="9601200" cy="493775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280" b="0">
                <a:solidFill>
                  <a:srgbClr val="EEF2F7"/>
                </a:solidFill>
              </a:defRPr>
            </a:pPr>
            <a:r>
              <a:t>Причина вибору: Побудовано зрозумілий auth UX: користувач бачить форму, стани введення та результат дії.</a:t>
            </a:r>
          </a:p>
        </p:txBody>
      </p:sp>
      <p:sp>
        <p:nvSpPr>
          <p:cNvPr id="30" name="Oval 29"/>
          <p:cNvSpPr/>
          <p:nvPr/>
        </p:nvSpPr>
        <p:spPr>
          <a:xfrm>
            <a:off x="1152144" y="3621024"/>
            <a:ext cx="109728" cy="109728"/>
          </a:xfrm>
          <a:prstGeom prst="ellipse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380744" y="3529584"/>
            <a:ext cx="9601200" cy="493775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280" b="0">
                <a:solidFill>
                  <a:srgbClr val="EEF2F7"/>
                </a:solidFill>
              </a:defRPr>
            </a:pPr>
            <a:r>
              <a:t>Обране рішення: Опрацьовано валідацію полів і повідомлення про помилки, щоб сценарій не виглядав як статичний макет.</a:t>
            </a:r>
          </a:p>
        </p:txBody>
      </p:sp>
      <p:sp>
        <p:nvSpPr>
          <p:cNvPr id="32" name="Oval 31"/>
          <p:cNvSpPr/>
          <p:nvPr/>
        </p:nvSpPr>
        <p:spPr>
          <a:xfrm>
            <a:off x="1152144" y="4151375"/>
            <a:ext cx="109728" cy="109728"/>
          </a:xfrm>
          <a:prstGeom prst="ellipse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380744" y="4059935"/>
            <a:ext cx="9601200" cy="493775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280" b="0">
                <a:solidFill>
                  <a:srgbClr val="EEF2F7"/>
                </a:solidFill>
              </a:defRPr>
            </a:pPr>
            <a:r>
              <a:t>Реалізація: Після успішної реєстрації користувач переходить до подальшого користування сайтом.</a:t>
            </a:r>
          </a:p>
        </p:txBody>
      </p:sp>
      <p:sp>
        <p:nvSpPr>
          <p:cNvPr id="34" name="Oval 33"/>
          <p:cNvSpPr/>
          <p:nvPr/>
        </p:nvSpPr>
        <p:spPr>
          <a:xfrm>
            <a:off x="1152144" y="4681727"/>
            <a:ext cx="109728" cy="109728"/>
          </a:xfrm>
          <a:prstGeom prst="ellipse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380744" y="4590288"/>
            <a:ext cx="9601200" cy="493775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280" b="0">
                <a:solidFill>
                  <a:srgbClr val="EEF2F7"/>
                </a:solidFill>
              </a:defRPr>
            </a:pPr>
            <a:r>
              <a:t>Результат: Auth-екран стилістично узгоджено з іншими частинами платформи.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46920" y="320040"/>
            <a:ext cx="2286000" cy="2286000"/>
          </a:xfrm>
          <a:prstGeom prst="ellipse">
            <a:avLst/>
          </a:prstGeom>
          <a:solidFill>
            <a:srgbClr val="122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20040" y="4983480"/>
            <a:ext cx="1417320" cy="1417320"/>
          </a:xfrm>
          <a:prstGeom prst="ellipse">
            <a:avLst/>
          </a:prstGeom>
          <a:solidFill>
            <a:srgbClr val="1618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0080"/>
            <a:ext cx="1219169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18872"/>
            <a:ext cx="420624" cy="384048"/>
          </a:xfrm>
          <a:prstGeom prst="roundRect">
            <a:avLst/>
          </a:prstGeom>
          <a:solidFill>
            <a:srgbClr val="0A66C2"/>
          </a:solidFill>
          <a:ln>
            <a:solidFill>
              <a:srgbClr val="0A66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" y="173736"/>
            <a:ext cx="1417320" cy="22860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100" b="1">
                <a:solidFill>
                  <a:srgbClr val="EEF2F7"/>
                </a:solidFill>
              </a:defRPr>
            </a:pPr>
            <a:r>
              <a:t>LinkedIn Clone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331720" y="128016"/>
            <a:ext cx="1481328" cy="256032"/>
          </a:xfrm>
          <a:prstGeom prst="roundRect">
            <a:avLst/>
          </a:prstGeom>
          <a:solidFill>
            <a:srgbClr val="1B26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94A3B8"/>
                </a:solidFill>
              </a:defRPr>
            </a:pPr>
            <a:r>
              <a:t>Головна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922776" y="128016"/>
            <a:ext cx="1481328" cy="256032"/>
          </a:xfrm>
          <a:prstGeom prst="roundRect">
            <a:avLst/>
          </a:prstGeom>
          <a:solidFill>
            <a:srgbClr val="1B26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94A3B8"/>
                </a:solidFill>
              </a:defRPr>
            </a:pPr>
            <a:r>
              <a:t>Мережа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513832" y="128016"/>
            <a:ext cx="1481328" cy="256032"/>
          </a:xfrm>
          <a:prstGeom prst="roundRect">
            <a:avLst/>
          </a:prstGeom>
          <a:solidFill>
            <a:srgbClr val="C4B5FD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41824"/>
                </a:solidFill>
              </a:defRPr>
            </a:pPr>
            <a:r>
              <a:t>Вакансії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04888" y="128016"/>
            <a:ext cx="1481328" cy="256032"/>
          </a:xfrm>
          <a:prstGeom prst="roundRect">
            <a:avLst/>
          </a:prstGeom>
          <a:solidFill>
            <a:srgbClr val="1B26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94A3B8"/>
                </a:solidFill>
              </a:defRPr>
            </a:pPr>
            <a:r>
              <a:t>Чат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95944" y="128016"/>
            <a:ext cx="1481328" cy="256032"/>
          </a:xfrm>
          <a:prstGeom prst="roundRect">
            <a:avLst/>
          </a:prstGeom>
          <a:solidFill>
            <a:srgbClr val="1B26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94A3B8"/>
                </a:solidFill>
              </a:defRPr>
            </a:pPr>
            <a:r>
              <a:t>Профіль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6693408"/>
            <a:ext cx="7421031" cy="164592"/>
          </a:xfrm>
          <a:prstGeom prst="rect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6684264"/>
            <a:ext cx="2103120" cy="10972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</a:defRPr>
            </a:pPr>
            <a:r>
              <a:t>LinkedIn Diplom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47120" y="6684264"/>
            <a:ext cx="822960" cy="10972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r">
              <a:defRPr sz="800" b="0">
                <a:solidFill>
                  <a:srgbClr val="94A3B8"/>
                </a:solidFill>
              </a:defRPr>
            </a:pPr>
            <a:r>
              <a:t>14/23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786384"/>
            <a:ext cx="10972800" cy="50292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2400" b="1">
                <a:solidFill>
                  <a:srgbClr val="EEF2F7"/>
                </a:solidFill>
              </a:defRPr>
            </a:pPr>
            <a:r>
              <a:t>13. Звіт: Ямчук Тимур: сторінка вакансій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726119" y="1417320"/>
            <a:ext cx="2880360" cy="1005840"/>
          </a:xfrm>
          <a:prstGeom prst="roundRect">
            <a:avLst/>
          </a:prstGeom>
          <a:solidFill>
            <a:srgbClr val="0709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689543" y="1371600"/>
            <a:ext cx="2880360" cy="1005840"/>
          </a:xfrm>
          <a:prstGeom prst="roundRect">
            <a:avLst/>
          </a:prstGeom>
          <a:solidFill>
            <a:srgbClr val="121A2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835847" y="1499616"/>
            <a:ext cx="365760" cy="365760"/>
          </a:xfrm>
          <a:prstGeom prst="ellipse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J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04143" y="1545336"/>
            <a:ext cx="274320" cy="27432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>
              <a:defRPr sz="1700" b="1">
                <a:solidFill>
                  <a:srgbClr val="34D399"/>
                </a:solidFill>
              </a:defRPr>
            </a:pPr>
            <a: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56471" y="1536192"/>
            <a:ext cx="1920239" cy="29260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>
              <a:defRPr sz="1300" b="1">
                <a:solidFill>
                  <a:srgbClr val="EEF2F7"/>
                </a:solidFill>
              </a:defRPr>
            </a:pPr>
            <a:r>
              <a:t>Jobs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35847" y="1901952"/>
            <a:ext cx="2587752" cy="420624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950" b="0">
                <a:solidFill>
                  <a:srgbClr val="94A3B8"/>
                </a:solidFill>
              </a:defRPr>
            </a:pPr>
            <a:r>
              <a:t>список, картки, фільтри, apply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" y="1600200"/>
            <a:ext cx="7775143" cy="84124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Обґрунтування рішення: Сторінка вакансій реалізує один з головних сценаріїв LinkedIn-like платформи.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5256" y="2743200"/>
            <a:ext cx="10469880" cy="2697480"/>
          </a:xfrm>
          <a:prstGeom prst="roundRect">
            <a:avLst/>
          </a:prstGeom>
          <a:solidFill>
            <a:srgbClr val="0709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68680" y="2697480"/>
            <a:ext cx="10469880" cy="2697480"/>
          </a:xfrm>
          <a:prstGeom prst="roundRect">
            <a:avLst/>
          </a:prstGeom>
          <a:solidFill>
            <a:srgbClr val="121A2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152144" y="3090672"/>
            <a:ext cx="109728" cy="109728"/>
          </a:xfrm>
          <a:prstGeom prst="ellipse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380744" y="2999232"/>
            <a:ext cx="9601200" cy="493775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280" b="0">
                <a:solidFill>
                  <a:srgbClr val="EEF2F7"/>
                </a:solidFill>
              </a:defRPr>
            </a:pPr>
            <a:r>
              <a:t>Причина вибору: Створено список вакансій з картками, основними параметрами і зрозумілою структурою перегляду.</a:t>
            </a:r>
          </a:p>
        </p:txBody>
      </p:sp>
      <p:sp>
        <p:nvSpPr>
          <p:cNvPr id="30" name="Oval 29"/>
          <p:cNvSpPr/>
          <p:nvPr/>
        </p:nvSpPr>
        <p:spPr>
          <a:xfrm>
            <a:off x="1152144" y="3621024"/>
            <a:ext cx="109728" cy="109728"/>
          </a:xfrm>
          <a:prstGeom prst="ellipse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380744" y="3529584"/>
            <a:ext cx="9601200" cy="493775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280" b="0">
                <a:solidFill>
                  <a:srgbClr val="EEF2F7"/>
                </a:solidFill>
              </a:defRPr>
            </a:pPr>
            <a:r>
              <a:t>Обране рішення: Додано відображення формату роботи, рівня досвіду, локації та інших характеристик вакансії.</a:t>
            </a:r>
          </a:p>
        </p:txBody>
      </p:sp>
      <p:sp>
        <p:nvSpPr>
          <p:cNvPr id="32" name="Oval 31"/>
          <p:cNvSpPr/>
          <p:nvPr/>
        </p:nvSpPr>
        <p:spPr>
          <a:xfrm>
            <a:off x="1152144" y="4151375"/>
            <a:ext cx="109728" cy="109728"/>
          </a:xfrm>
          <a:prstGeom prst="ellipse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380744" y="4059935"/>
            <a:ext cx="9601200" cy="493775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280" b="0">
                <a:solidFill>
                  <a:srgbClr val="EEF2F7"/>
                </a:solidFill>
              </a:defRPr>
            </a:pPr>
            <a:r>
              <a:t>Реалізація: Підготовлено сценарії збереження вакансії та відгуку користувача.</a:t>
            </a:r>
          </a:p>
        </p:txBody>
      </p:sp>
      <p:sp>
        <p:nvSpPr>
          <p:cNvPr id="34" name="Oval 33"/>
          <p:cNvSpPr/>
          <p:nvPr/>
        </p:nvSpPr>
        <p:spPr>
          <a:xfrm>
            <a:off x="1152144" y="4681727"/>
            <a:ext cx="109728" cy="109728"/>
          </a:xfrm>
          <a:prstGeom prst="ellipse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380744" y="4590288"/>
            <a:ext cx="9601200" cy="493775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280" b="0">
                <a:solidFill>
                  <a:srgbClr val="EEF2F7"/>
                </a:solidFill>
              </a:defRPr>
            </a:pPr>
            <a:r>
              <a:t>Результат: Сторінка вписана в загальну навігацію і не виглядає окремим модулем.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46920" y="320040"/>
            <a:ext cx="2286000" cy="2286000"/>
          </a:xfrm>
          <a:prstGeom prst="ellipse">
            <a:avLst/>
          </a:prstGeom>
          <a:solidFill>
            <a:srgbClr val="122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20040" y="4983480"/>
            <a:ext cx="1417320" cy="1417320"/>
          </a:xfrm>
          <a:prstGeom prst="ellipse">
            <a:avLst/>
          </a:prstGeom>
          <a:solidFill>
            <a:srgbClr val="1618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0080"/>
            <a:ext cx="1219169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18872"/>
            <a:ext cx="420624" cy="384048"/>
          </a:xfrm>
          <a:prstGeom prst="roundRect">
            <a:avLst/>
          </a:prstGeom>
          <a:solidFill>
            <a:srgbClr val="0A66C2"/>
          </a:solidFill>
          <a:ln>
            <a:solidFill>
              <a:srgbClr val="0A66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" y="173736"/>
            <a:ext cx="1417320" cy="22860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100" b="1">
                <a:solidFill>
                  <a:srgbClr val="EEF2F7"/>
                </a:solidFill>
              </a:defRPr>
            </a:pPr>
            <a:r>
              <a:t>LinkedIn Clone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331720" y="128016"/>
            <a:ext cx="1481328" cy="256032"/>
          </a:xfrm>
          <a:prstGeom prst="roundRect">
            <a:avLst/>
          </a:prstGeom>
          <a:solidFill>
            <a:srgbClr val="1B26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94A3B8"/>
                </a:solidFill>
              </a:defRPr>
            </a:pPr>
            <a:r>
              <a:t>Головна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922776" y="128016"/>
            <a:ext cx="1481328" cy="256032"/>
          </a:xfrm>
          <a:prstGeom prst="roundRect">
            <a:avLst/>
          </a:prstGeom>
          <a:solidFill>
            <a:srgbClr val="1B26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94A3B8"/>
                </a:solidFill>
              </a:defRPr>
            </a:pPr>
            <a:r>
              <a:t>Мережа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513832" y="128016"/>
            <a:ext cx="1481328" cy="256032"/>
          </a:xfrm>
          <a:prstGeom prst="roundRect">
            <a:avLst/>
          </a:prstGeom>
          <a:solidFill>
            <a:srgbClr val="C4B5FD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41824"/>
                </a:solidFill>
              </a:defRPr>
            </a:pPr>
            <a:r>
              <a:t>Вакансії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04888" y="128016"/>
            <a:ext cx="1481328" cy="256032"/>
          </a:xfrm>
          <a:prstGeom prst="roundRect">
            <a:avLst/>
          </a:prstGeom>
          <a:solidFill>
            <a:srgbClr val="1B26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94A3B8"/>
                </a:solidFill>
              </a:defRPr>
            </a:pPr>
            <a:r>
              <a:t>Чат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95944" y="128016"/>
            <a:ext cx="1481328" cy="256032"/>
          </a:xfrm>
          <a:prstGeom prst="roundRect">
            <a:avLst/>
          </a:prstGeom>
          <a:solidFill>
            <a:srgbClr val="1B26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94A3B8"/>
                </a:solidFill>
              </a:defRPr>
            </a:pPr>
            <a:r>
              <a:t>Профіль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6693408"/>
            <a:ext cx="7951105" cy="164592"/>
          </a:xfrm>
          <a:prstGeom prst="rect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6684264"/>
            <a:ext cx="2103120" cy="10972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</a:defRPr>
            </a:pPr>
            <a:r>
              <a:t>LinkedIn Diplom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47120" y="6684264"/>
            <a:ext cx="822960" cy="10972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r">
              <a:defRPr sz="800" b="0">
                <a:solidFill>
                  <a:srgbClr val="94A3B8"/>
                </a:solidFill>
              </a:defRPr>
            </a:pPr>
            <a:r>
              <a:t>15/23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786384"/>
            <a:ext cx="10972800" cy="50292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2400" b="1">
                <a:solidFill>
                  <a:srgbClr val="EEF2F7"/>
                </a:solidFill>
              </a:defRPr>
            </a:pPr>
            <a:r>
              <a:t>14. Звіт: Ямчук Тимур: пошук роботи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726119" y="1417320"/>
            <a:ext cx="2880360" cy="1005840"/>
          </a:xfrm>
          <a:prstGeom prst="roundRect">
            <a:avLst/>
          </a:prstGeom>
          <a:solidFill>
            <a:srgbClr val="0709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689543" y="1371600"/>
            <a:ext cx="2880360" cy="1005840"/>
          </a:xfrm>
          <a:prstGeom prst="roundRect">
            <a:avLst/>
          </a:prstGeom>
          <a:solidFill>
            <a:srgbClr val="121A2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835847" y="1499616"/>
            <a:ext cx="365760" cy="365760"/>
          </a:xfrm>
          <a:prstGeom prst="ellipse">
            <a:avLst/>
          </a:prstGeom>
          <a:solidFill>
            <a:srgbClr val="FB923C"/>
          </a:solidFill>
          <a:ln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04143" y="1545336"/>
            <a:ext cx="274320" cy="27432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>
              <a:defRPr sz="1700" b="1">
                <a:solidFill>
                  <a:srgbClr val="34D399"/>
                </a:solidFill>
              </a:defRPr>
            </a:pPr>
            <a: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56471" y="1536192"/>
            <a:ext cx="1920239" cy="29260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>
              <a:defRPr sz="1300" b="1">
                <a:solidFill>
                  <a:srgbClr val="EEF2F7"/>
                </a:solidFill>
              </a:defRPr>
            </a:pPr>
            <a:r>
              <a:t>Search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35847" y="1901952"/>
            <a:ext cx="2587752" cy="420624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950" b="0">
                <a:solidFill>
                  <a:srgbClr val="94A3B8"/>
                </a:solidFill>
              </a:defRPr>
            </a:pPr>
            <a:r>
              <a:t>фільтри, запит, релевантні вакансії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" y="1600200"/>
            <a:ext cx="7775143" cy="84124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Обґрунтування рішення: Пошук роботи робить модуль вакансій корисним для щоденного сценарію кандидата.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5256" y="2743200"/>
            <a:ext cx="10469880" cy="2697480"/>
          </a:xfrm>
          <a:prstGeom prst="roundRect">
            <a:avLst/>
          </a:prstGeom>
          <a:solidFill>
            <a:srgbClr val="0709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68680" y="2697480"/>
            <a:ext cx="10469880" cy="2697480"/>
          </a:xfrm>
          <a:prstGeom prst="roundRect">
            <a:avLst/>
          </a:prstGeom>
          <a:solidFill>
            <a:srgbClr val="121A2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152144" y="3090672"/>
            <a:ext cx="109728" cy="109728"/>
          </a:xfrm>
          <a:prstGeom prst="ellipse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380744" y="2999232"/>
            <a:ext cx="9601200" cy="493775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280" b="0">
                <a:solidFill>
                  <a:srgbClr val="EEF2F7"/>
                </a:solidFill>
              </a:defRPr>
            </a:pPr>
            <a:r>
              <a:t>Причина вибору: Реалізовано фільтрацію вакансій за ключовими параметрами.</a:t>
            </a:r>
          </a:p>
        </p:txBody>
      </p:sp>
      <p:sp>
        <p:nvSpPr>
          <p:cNvPr id="30" name="Oval 29"/>
          <p:cNvSpPr/>
          <p:nvPr/>
        </p:nvSpPr>
        <p:spPr>
          <a:xfrm>
            <a:off x="1152144" y="3621024"/>
            <a:ext cx="109728" cy="109728"/>
          </a:xfrm>
          <a:prstGeom prst="ellipse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380744" y="3529584"/>
            <a:ext cx="9601200" cy="493775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280" b="0">
                <a:solidFill>
                  <a:srgbClr val="EEF2F7"/>
                </a:solidFill>
              </a:defRPr>
            </a:pPr>
            <a:r>
              <a:t>Обране рішення: Опрацьовано сценарій, коли результатів немає або користувач змінює запит.</a:t>
            </a:r>
          </a:p>
        </p:txBody>
      </p:sp>
      <p:sp>
        <p:nvSpPr>
          <p:cNvPr id="32" name="Oval 31"/>
          <p:cNvSpPr/>
          <p:nvPr/>
        </p:nvSpPr>
        <p:spPr>
          <a:xfrm>
            <a:off x="1152144" y="4151375"/>
            <a:ext cx="109728" cy="109728"/>
          </a:xfrm>
          <a:prstGeom prst="ellipse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380744" y="4059935"/>
            <a:ext cx="9601200" cy="493775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280" b="0">
                <a:solidFill>
                  <a:srgbClr val="EEF2F7"/>
                </a:solidFill>
              </a:defRPr>
            </a:pPr>
            <a:r>
              <a:t>Реалізація: Пошук допомагає швидко перейти від загального списку до релевантних вакансій.</a:t>
            </a:r>
          </a:p>
        </p:txBody>
      </p:sp>
      <p:sp>
        <p:nvSpPr>
          <p:cNvPr id="34" name="Oval 33"/>
          <p:cNvSpPr/>
          <p:nvPr/>
        </p:nvSpPr>
        <p:spPr>
          <a:xfrm>
            <a:off x="1152144" y="4681727"/>
            <a:ext cx="109728" cy="109728"/>
          </a:xfrm>
          <a:prstGeom prst="ellipse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380744" y="4590288"/>
            <a:ext cx="9601200" cy="493775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280" b="0">
                <a:solidFill>
                  <a:srgbClr val="EEF2F7"/>
                </a:solidFill>
              </a:defRPr>
            </a:pPr>
            <a:r>
              <a:t>Результат: Цей блок підсилює головну перевагу сайту: вакансії пов'язані з профілем і комунікацією.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46920" y="320040"/>
            <a:ext cx="2286000" cy="2286000"/>
          </a:xfrm>
          <a:prstGeom prst="ellipse">
            <a:avLst/>
          </a:prstGeom>
          <a:solidFill>
            <a:srgbClr val="122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20040" y="4983480"/>
            <a:ext cx="1417320" cy="1417320"/>
          </a:xfrm>
          <a:prstGeom prst="ellipse">
            <a:avLst/>
          </a:prstGeom>
          <a:solidFill>
            <a:srgbClr val="1618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0080"/>
            <a:ext cx="1219169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18872"/>
            <a:ext cx="420624" cy="384048"/>
          </a:xfrm>
          <a:prstGeom prst="roundRect">
            <a:avLst/>
          </a:prstGeom>
          <a:solidFill>
            <a:srgbClr val="0A66C2"/>
          </a:solidFill>
          <a:ln>
            <a:solidFill>
              <a:srgbClr val="0A66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" y="173736"/>
            <a:ext cx="1417320" cy="22860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100" b="1">
                <a:solidFill>
                  <a:srgbClr val="EEF2F7"/>
                </a:solidFill>
              </a:defRPr>
            </a:pPr>
            <a:r>
              <a:t>LinkedIn Clone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331720" y="128016"/>
            <a:ext cx="1481328" cy="256032"/>
          </a:xfrm>
          <a:prstGeom prst="roundRect">
            <a:avLst/>
          </a:prstGeom>
          <a:solidFill>
            <a:srgbClr val="1B26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94A3B8"/>
                </a:solidFill>
              </a:defRPr>
            </a:pPr>
            <a:r>
              <a:t>Головна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922776" y="128016"/>
            <a:ext cx="1481328" cy="256032"/>
          </a:xfrm>
          <a:prstGeom prst="roundRect">
            <a:avLst/>
          </a:prstGeom>
          <a:solidFill>
            <a:srgbClr val="1B26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94A3B8"/>
                </a:solidFill>
              </a:defRPr>
            </a:pPr>
            <a:r>
              <a:t>Мережа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513832" y="128016"/>
            <a:ext cx="1481328" cy="256032"/>
          </a:xfrm>
          <a:prstGeom prst="roundRect">
            <a:avLst/>
          </a:prstGeom>
          <a:solidFill>
            <a:srgbClr val="1B26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94A3B8"/>
                </a:solidFill>
              </a:defRPr>
            </a:pPr>
            <a:r>
              <a:t>Вакансії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04888" y="128016"/>
            <a:ext cx="1481328" cy="256032"/>
          </a:xfrm>
          <a:prstGeom prst="roundRect">
            <a:avLst/>
          </a:prstGeom>
          <a:solidFill>
            <a:srgbClr val="C4B5FD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41824"/>
                </a:solidFill>
              </a:defRPr>
            </a:pPr>
            <a:r>
              <a:t>Чат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95944" y="128016"/>
            <a:ext cx="1481328" cy="256032"/>
          </a:xfrm>
          <a:prstGeom prst="roundRect">
            <a:avLst/>
          </a:prstGeom>
          <a:solidFill>
            <a:srgbClr val="1B26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94A3B8"/>
                </a:solidFill>
              </a:defRPr>
            </a:pPr>
            <a:r>
              <a:t>Профіль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6693408"/>
            <a:ext cx="8481179" cy="164592"/>
          </a:xfrm>
          <a:prstGeom prst="rect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6684264"/>
            <a:ext cx="2103120" cy="10972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</a:defRPr>
            </a:pPr>
            <a:r>
              <a:t>LinkedIn Diplom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47120" y="6684264"/>
            <a:ext cx="822960" cy="10972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r">
              <a:defRPr sz="800" b="0">
                <a:solidFill>
                  <a:srgbClr val="94A3B8"/>
                </a:solidFill>
              </a:defRPr>
            </a:pPr>
            <a:r>
              <a:t>16/23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786384"/>
            <a:ext cx="10972800" cy="50292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2400" b="1">
                <a:solidFill>
                  <a:srgbClr val="EEF2F7"/>
                </a:solidFill>
              </a:defRPr>
            </a:pPr>
            <a:r>
              <a:t>15. Звіт: Ямчук Тимур: чати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726119" y="1417320"/>
            <a:ext cx="2880360" cy="1005840"/>
          </a:xfrm>
          <a:prstGeom prst="roundRect">
            <a:avLst/>
          </a:prstGeom>
          <a:solidFill>
            <a:srgbClr val="0709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689543" y="1371600"/>
            <a:ext cx="2880360" cy="1005840"/>
          </a:xfrm>
          <a:prstGeom prst="roundRect">
            <a:avLst/>
          </a:prstGeom>
          <a:solidFill>
            <a:srgbClr val="121A2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835847" y="1499616"/>
            <a:ext cx="365760" cy="365760"/>
          </a:xfrm>
          <a:prstGeom prst="ellipse">
            <a:avLst/>
          </a:prstGeom>
          <a:solidFill>
            <a:srgbClr val="0A66C2"/>
          </a:solidFill>
          <a:ln>
            <a:solidFill>
              <a:srgbClr val="0A66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04143" y="1545336"/>
            <a:ext cx="274320" cy="27432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>
              <a:defRPr sz="1700" b="1">
                <a:solidFill>
                  <a:srgbClr val="34D399"/>
                </a:solidFill>
              </a:defRPr>
            </a:pPr>
            <a: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56471" y="1536192"/>
            <a:ext cx="1920239" cy="29260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>
              <a:defRPr sz="1300" b="1">
                <a:solidFill>
                  <a:srgbClr val="EEF2F7"/>
                </a:solidFill>
              </a:defRPr>
            </a:pPr>
            <a:r>
              <a:t>Chat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35847" y="1901952"/>
            <a:ext cx="2587752" cy="420624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950" b="0">
                <a:solidFill>
                  <a:srgbClr val="94A3B8"/>
                </a:solidFill>
              </a:defRPr>
            </a:pPr>
            <a:r>
              <a:t>діалоги, unread, UI mock AI/WebRTC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" y="1600200"/>
            <a:ext cx="7775143" cy="84124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Обґрунтування рішення: Чати додають платформі внутрішню комунікацію без переходу в сторонні месенджери.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5256" y="2743200"/>
            <a:ext cx="10469880" cy="2697480"/>
          </a:xfrm>
          <a:prstGeom prst="roundRect">
            <a:avLst/>
          </a:prstGeom>
          <a:solidFill>
            <a:srgbClr val="0709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68680" y="2697480"/>
            <a:ext cx="10469880" cy="2697480"/>
          </a:xfrm>
          <a:prstGeom prst="roundRect">
            <a:avLst/>
          </a:prstGeom>
          <a:solidFill>
            <a:srgbClr val="121A2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152144" y="3090672"/>
            <a:ext cx="109728" cy="109728"/>
          </a:xfrm>
          <a:prstGeom prst="ellipse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380744" y="2999232"/>
            <a:ext cx="9601200" cy="493775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280" b="0">
                <a:solidFill>
                  <a:srgbClr val="EEF2F7"/>
                </a:solidFill>
              </a:defRPr>
            </a:pPr>
            <a:r>
              <a:t>Причина вибору: Створено інтерфейс діалогів, повідомлень і станів unread.</a:t>
            </a:r>
          </a:p>
        </p:txBody>
      </p:sp>
      <p:sp>
        <p:nvSpPr>
          <p:cNvPr id="30" name="Oval 29"/>
          <p:cNvSpPr/>
          <p:nvPr/>
        </p:nvSpPr>
        <p:spPr>
          <a:xfrm>
            <a:off x="1152144" y="3621024"/>
            <a:ext cx="109728" cy="109728"/>
          </a:xfrm>
          <a:prstGeom prst="ellipse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380744" y="3529584"/>
            <a:ext cx="9601200" cy="493775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280" b="0">
                <a:solidFill>
                  <a:srgbClr val="EEF2F7"/>
                </a:solidFill>
              </a:defRPr>
            </a:pPr>
            <a:r>
              <a:t>Обране рішення: Додано сценарії архівації, mute, видалення повідомлень і share posts.</a:t>
            </a:r>
          </a:p>
        </p:txBody>
      </p:sp>
      <p:sp>
        <p:nvSpPr>
          <p:cNvPr id="32" name="Oval 31"/>
          <p:cNvSpPr/>
          <p:nvPr/>
        </p:nvSpPr>
        <p:spPr>
          <a:xfrm>
            <a:off x="1152144" y="4151375"/>
            <a:ext cx="109728" cy="109728"/>
          </a:xfrm>
          <a:prstGeom prst="ellipse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380744" y="4059935"/>
            <a:ext cx="9601200" cy="493775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280" b="0">
                <a:solidFill>
                  <a:srgbClr val="EEF2F7"/>
                </a:solidFill>
              </a:defRPr>
            </a:pPr>
            <a:r>
              <a:t>Реалізація: UI-шар для AI-підказок і майбутнього WebRTC — це mock-моделі, не production-функції.</a:t>
            </a:r>
          </a:p>
        </p:txBody>
      </p:sp>
      <p:sp>
        <p:nvSpPr>
          <p:cNvPr id="34" name="Oval 33"/>
          <p:cNvSpPr/>
          <p:nvPr/>
        </p:nvSpPr>
        <p:spPr>
          <a:xfrm>
            <a:off x="1152144" y="4681727"/>
            <a:ext cx="109728" cy="109728"/>
          </a:xfrm>
          <a:prstGeom prst="ellipse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380744" y="4590288"/>
            <a:ext cx="9601200" cy="493775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280" b="0">
                <a:solidFill>
                  <a:srgbClr val="EEF2F7"/>
                </a:solidFill>
              </a:defRPr>
            </a:pPr>
            <a:r>
              <a:t>Результат: Комунікація підтримує ідею LinkedIn-like продукту: робота, контакти і повідомлення в одному місці.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46920" y="320040"/>
            <a:ext cx="2286000" cy="2286000"/>
          </a:xfrm>
          <a:prstGeom prst="ellipse">
            <a:avLst/>
          </a:prstGeom>
          <a:solidFill>
            <a:srgbClr val="122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20040" y="4983480"/>
            <a:ext cx="1417320" cy="1417320"/>
          </a:xfrm>
          <a:prstGeom prst="ellipse">
            <a:avLst/>
          </a:prstGeom>
          <a:solidFill>
            <a:srgbClr val="1618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0080"/>
            <a:ext cx="1219169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18872"/>
            <a:ext cx="420624" cy="384048"/>
          </a:xfrm>
          <a:prstGeom prst="roundRect">
            <a:avLst/>
          </a:prstGeom>
          <a:solidFill>
            <a:srgbClr val="0A66C2"/>
          </a:solidFill>
          <a:ln>
            <a:solidFill>
              <a:srgbClr val="0A66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" y="173736"/>
            <a:ext cx="1417320" cy="22860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100" b="1">
                <a:solidFill>
                  <a:srgbClr val="EEF2F7"/>
                </a:solidFill>
              </a:defRPr>
            </a:pPr>
            <a:r>
              <a:t>LinkedIn Clone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331720" y="128016"/>
            <a:ext cx="1481328" cy="256032"/>
          </a:xfrm>
          <a:prstGeom prst="roundRect">
            <a:avLst/>
          </a:prstGeom>
          <a:solidFill>
            <a:srgbClr val="1B26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94A3B8"/>
                </a:solidFill>
              </a:defRPr>
            </a:pPr>
            <a:r>
              <a:t>Головна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922776" y="128016"/>
            <a:ext cx="1481328" cy="256032"/>
          </a:xfrm>
          <a:prstGeom prst="roundRect">
            <a:avLst/>
          </a:prstGeom>
          <a:solidFill>
            <a:srgbClr val="1B26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94A3B8"/>
                </a:solidFill>
              </a:defRPr>
            </a:pPr>
            <a:r>
              <a:t>Мережа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513832" y="128016"/>
            <a:ext cx="1481328" cy="256032"/>
          </a:xfrm>
          <a:prstGeom prst="roundRect">
            <a:avLst/>
          </a:prstGeom>
          <a:solidFill>
            <a:srgbClr val="1B26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94A3B8"/>
                </a:solidFill>
              </a:defRPr>
            </a:pPr>
            <a:r>
              <a:t>Вакансії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04888" y="128016"/>
            <a:ext cx="1481328" cy="256032"/>
          </a:xfrm>
          <a:prstGeom prst="roundRect">
            <a:avLst/>
          </a:prstGeom>
          <a:solidFill>
            <a:srgbClr val="1B26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94A3B8"/>
                </a:solidFill>
              </a:defRPr>
            </a:pPr>
            <a:r>
              <a:t>Чат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95944" y="128016"/>
            <a:ext cx="1481328" cy="256032"/>
          </a:xfrm>
          <a:prstGeom prst="roundRect">
            <a:avLst/>
          </a:prstGeom>
          <a:solidFill>
            <a:srgbClr val="C4B5FD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41824"/>
                </a:solidFill>
              </a:defRPr>
            </a:pPr>
            <a:r>
              <a:t>Профіль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6693408"/>
            <a:ext cx="9011252" cy="164592"/>
          </a:xfrm>
          <a:prstGeom prst="rect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6684264"/>
            <a:ext cx="2103120" cy="10972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</a:defRPr>
            </a:pPr>
            <a:r>
              <a:t>LinkedIn Diplom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47120" y="6684264"/>
            <a:ext cx="822960" cy="10972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r">
              <a:defRPr sz="800" b="0">
                <a:solidFill>
                  <a:srgbClr val="94A3B8"/>
                </a:solidFill>
              </a:defRPr>
            </a:pPr>
            <a:r>
              <a:t>17/23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786384"/>
            <a:ext cx="10972800" cy="50292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2400" b="1">
                <a:solidFill>
                  <a:srgbClr val="EEF2F7"/>
                </a:solidFill>
              </a:defRPr>
            </a:pPr>
            <a:r>
              <a:t>16. Звіт: Ямчук Тимур: дизайн і особистий кабінет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726119" y="1417320"/>
            <a:ext cx="2880360" cy="1005840"/>
          </a:xfrm>
          <a:prstGeom prst="roundRect">
            <a:avLst/>
          </a:prstGeom>
          <a:solidFill>
            <a:srgbClr val="0709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689543" y="1371600"/>
            <a:ext cx="2880360" cy="1005840"/>
          </a:xfrm>
          <a:prstGeom prst="roundRect">
            <a:avLst/>
          </a:prstGeom>
          <a:solidFill>
            <a:srgbClr val="121A2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835847" y="1499616"/>
            <a:ext cx="365760" cy="365760"/>
          </a:xfrm>
          <a:prstGeom prst="ellipse">
            <a:avLst/>
          </a:prstGeom>
          <a:solidFill>
            <a:srgbClr val="8B5CF6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04143" y="1545336"/>
            <a:ext cx="274320" cy="27432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>
              <a:defRPr sz="1700" b="1">
                <a:solidFill>
                  <a:srgbClr val="34D399"/>
                </a:solidFill>
              </a:defRPr>
            </a:pPr>
            <a: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56471" y="1536192"/>
            <a:ext cx="1920239" cy="29260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>
              <a:defRPr sz="1300" b="1">
                <a:solidFill>
                  <a:srgbClr val="EEF2F7"/>
                </a:solidFill>
              </a:defRPr>
            </a:pPr>
            <a:r>
              <a:t>Profile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35847" y="1901952"/>
            <a:ext cx="2587752" cy="420624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950" b="0">
                <a:solidFill>
                  <a:srgbClr val="94A3B8"/>
                </a:solidFill>
              </a:defRPr>
            </a:pPr>
            <a:r>
              <a:t>кабінет, avatar, skills, resume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" y="1600200"/>
            <a:ext cx="7775143" cy="84124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Обґрунтування рішення: Особистий кабінет і дизайн формують завершене враження від frontend-частини.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5256" y="2743200"/>
            <a:ext cx="10469880" cy="2697480"/>
          </a:xfrm>
          <a:prstGeom prst="roundRect">
            <a:avLst/>
          </a:prstGeom>
          <a:solidFill>
            <a:srgbClr val="0709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68680" y="2697480"/>
            <a:ext cx="10469880" cy="2697480"/>
          </a:xfrm>
          <a:prstGeom prst="roundRect">
            <a:avLst/>
          </a:prstGeom>
          <a:solidFill>
            <a:srgbClr val="121A2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152144" y="3090672"/>
            <a:ext cx="109728" cy="109728"/>
          </a:xfrm>
          <a:prstGeom prst="ellipse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380744" y="2999232"/>
            <a:ext cx="9601200" cy="493775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280" b="0">
                <a:solidFill>
                  <a:srgbClr val="EEF2F7"/>
                </a:solidFill>
              </a:defRPr>
            </a:pPr>
            <a:r>
              <a:t>Причина вибору: Профіль користувача містить особисті та професійні дані, avatar, skills і resume.</a:t>
            </a:r>
          </a:p>
        </p:txBody>
      </p:sp>
      <p:sp>
        <p:nvSpPr>
          <p:cNvPr id="30" name="Oval 29"/>
          <p:cNvSpPr/>
          <p:nvPr/>
        </p:nvSpPr>
        <p:spPr>
          <a:xfrm>
            <a:off x="1152144" y="3621024"/>
            <a:ext cx="109728" cy="109728"/>
          </a:xfrm>
          <a:prstGeom prst="ellipse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380744" y="3529584"/>
            <a:ext cx="9601200" cy="493775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280" b="0">
                <a:solidFill>
                  <a:srgbClr val="EEF2F7"/>
                </a:solidFill>
              </a:defRPr>
            </a:pPr>
            <a:r>
              <a:t>Обране рішення: Візуальний стиль узгоджено між auth, vacancies, chat і profile.</a:t>
            </a:r>
          </a:p>
        </p:txBody>
      </p:sp>
      <p:sp>
        <p:nvSpPr>
          <p:cNvPr id="32" name="Oval 31"/>
          <p:cNvSpPr/>
          <p:nvPr/>
        </p:nvSpPr>
        <p:spPr>
          <a:xfrm>
            <a:off x="1152144" y="4151375"/>
            <a:ext cx="109728" cy="109728"/>
          </a:xfrm>
          <a:prstGeom prst="ellipse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380744" y="4059935"/>
            <a:ext cx="9601200" cy="493775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280" b="0">
                <a:solidFill>
                  <a:srgbClr val="EEF2F7"/>
                </a:solidFill>
              </a:defRPr>
            </a:pPr>
            <a:r>
              <a:t>Реалізація: Кабінет працює як центр професійної ідентичності користувача.</a:t>
            </a:r>
          </a:p>
        </p:txBody>
      </p:sp>
      <p:sp>
        <p:nvSpPr>
          <p:cNvPr id="34" name="Oval 33"/>
          <p:cNvSpPr/>
          <p:nvPr/>
        </p:nvSpPr>
        <p:spPr>
          <a:xfrm>
            <a:off x="1152144" y="4681727"/>
            <a:ext cx="109728" cy="109728"/>
          </a:xfrm>
          <a:prstGeom prst="ellipse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380744" y="4590288"/>
            <a:ext cx="9601200" cy="493775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280" b="0">
                <a:solidFill>
                  <a:srgbClr val="EEF2F7"/>
                </a:solidFill>
              </a:defRPr>
            </a:pPr>
            <a:r>
              <a:t>Результат: Дизайн побудований на картках, темній/світлій темі, акцентах і зрозумілій навігації.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46920" y="320040"/>
            <a:ext cx="2286000" cy="2286000"/>
          </a:xfrm>
          <a:prstGeom prst="ellipse">
            <a:avLst/>
          </a:prstGeom>
          <a:solidFill>
            <a:srgbClr val="122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20040" y="4983480"/>
            <a:ext cx="1417320" cy="1417320"/>
          </a:xfrm>
          <a:prstGeom prst="ellipse">
            <a:avLst/>
          </a:prstGeom>
          <a:solidFill>
            <a:srgbClr val="1618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0080"/>
            <a:ext cx="1219169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18872"/>
            <a:ext cx="420624" cy="384048"/>
          </a:xfrm>
          <a:prstGeom prst="roundRect">
            <a:avLst/>
          </a:prstGeom>
          <a:solidFill>
            <a:srgbClr val="0A66C2"/>
          </a:solidFill>
          <a:ln>
            <a:solidFill>
              <a:srgbClr val="0A66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" y="173736"/>
            <a:ext cx="1417320" cy="22860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100" b="1">
                <a:solidFill>
                  <a:srgbClr val="EEF2F7"/>
                </a:solidFill>
              </a:defRPr>
            </a:pPr>
            <a:r>
              <a:t>LinkedIn Clone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331720" y="128016"/>
            <a:ext cx="1481328" cy="256032"/>
          </a:xfrm>
          <a:prstGeom prst="roundRect">
            <a:avLst/>
          </a:prstGeom>
          <a:solidFill>
            <a:srgbClr val="C4B5FD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41824"/>
                </a:solidFill>
              </a:defRPr>
            </a:pPr>
            <a:r>
              <a:t>Головна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922776" y="128016"/>
            <a:ext cx="1481328" cy="256032"/>
          </a:xfrm>
          <a:prstGeom prst="roundRect">
            <a:avLst/>
          </a:prstGeom>
          <a:solidFill>
            <a:srgbClr val="1B26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94A3B8"/>
                </a:solidFill>
              </a:defRPr>
            </a:pPr>
            <a:r>
              <a:t>Мережа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513832" y="128016"/>
            <a:ext cx="1481328" cy="256032"/>
          </a:xfrm>
          <a:prstGeom prst="roundRect">
            <a:avLst/>
          </a:prstGeom>
          <a:solidFill>
            <a:srgbClr val="1B26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94A3B8"/>
                </a:solidFill>
              </a:defRPr>
            </a:pPr>
            <a:r>
              <a:t>Вакансії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04888" y="128016"/>
            <a:ext cx="1481328" cy="256032"/>
          </a:xfrm>
          <a:prstGeom prst="roundRect">
            <a:avLst/>
          </a:prstGeom>
          <a:solidFill>
            <a:srgbClr val="1B26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94A3B8"/>
                </a:solidFill>
              </a:defRPr>
            </a:pPr>
            <a:r>
              <a:t>Чат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95944" y="128016"/>
            <a:ext cx="1481328" cy="256032"/>
          </a:xfrm>
          <a:prstGeom prst="roundRect">
            <a:avLst/>
          </a:prstGeom>
          <a:solidFill>
            <a:srgbClr val="1B26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94A3B8"/>
                </a:solidFill>
              </a:defRPr>
            </a:pPr>
            <a:r>
              <a:t>Профіль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6693408"/>
            <a:ext cx="9541326" cy="164592"/>
          </a:xfrm>
          <a:prstGeom prst="rect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6684264"/>
            <a:ext cx="2103120" cy="10972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</a:defRPr>
            </a:pPr>
            <a:r>
              <a:t>LinkedIn Diplom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47120" y="6684264"/>
            <a:ext cx="822960" cy="10972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r">
              <a:defRPr sz="800" b="0">
                <a:solidFill>
                  <a:srgbClr val="94A3B8"/>
                </a:solidFill>
              </a:defRPr>
            </a:pPr>
            <a:r>
              <a:t>18/23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786384"/>
            <a:ext cx="10972800" cy="50292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2400" b="1">
                <a:solidFill>
                  <a:srgbClr val="EEF2F7"/>
                </a:solidFill>
              </a:defRPr>
            </a:pPr>
            <a:r>
              <a:t>17. Звіт: Андрій Ротарь: головний екран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726119" y="1417320"/>
            <a:ext cx="2880360" cy="1005840"/>
          </a:xfrm>
          <a:prstGeom prst="roundRect">
            <a:avLst/>
          </a:prstGeom>
          <a:solidFill>
            <a:srgbClr val="0709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689543" y="1371600"/>
            <a:ext cx="2880360" cy="1005840"/>
          </a:xfrm>
          <a:prstGeom prst="roundRect">
            <a:avLst/>
          </a:prstGeom>
          <a:solidFill>
            <a:srgbClr val="121A2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835847" y="1499616"/>
            <a:ext cx="365760" cy="365760"/>
          </a:xfrm>
          <a:prstGeom prst="ellipse">
            <a:avLst/>
          </a:prstGeom>
          <a:solidFill>
            <a:srgbClr val="0A66C2"/>
          </a:solidFill>
          <a:ln>
            <a:solidFill>
              <a:srgbClr val="0A66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04143" y="1545336"/>
            <a:ext cx="274320" cy="27432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>
              <a:defRPr sz="1700" b="1">
                <a:solidFill>
                  <a:srgbClr val="34D399"/>
                </a:solidFill>
              </a:defRPr>
            </a:pPr>
            <a: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56471" y="1536192"/>
            <a:ext cx="1920239" cy="29260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>
              <a:defRPr sz="1300" b="1">
                <a:solidFill>
                  <a:srgbClr val="EEF2F7"/>
                </a:solidFill>
              </a:defRPr>
            </a:pPr>
            <a:r>
              <a:t>Home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35847" y="1901952"/>
            <a:ext cx="2587752" cy="420624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950" b="0">
                <a:solidFill>
                  <a:srgbClr val="94A3B8"/>
                </a:solidFill>
              </a:defRPr>
            </a:pPr>
            <a:r>
              <a:t>стрічка, навігація, швидкий доступ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" y="1600200"/>
            <a:ext cx="7775143" cy="84124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Обґрунтування рішення: Головний екран задає перше враження і веде користувача до основних розділів платформи.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5256" y="2743200"/>
            <a:ext cx="10469880" cy="2697480"/>
          </a:xfrm>
          <a:prstGeom prst="roundRect">
            <a:avLst/>
          </a:prstGeom>
          <a:solidFill>
            <a:srgbClr val="0709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68680" y="2697480"/>
            <a:ext cx="10469880" cy="2697480"/>
          </a:xfrm>
          <a:prstGeom prst="roundRect">
            <a:avLst/>
          </a:prstGeom>
          <a:solidFill>
            <a:srgbClr val="121A2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152144" y="3090672"/>
            <a:ext cx="109728" cy="109728"/>
          </a:xfrm>
          <a:prstGeom prst="ellipse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380744" y="2999232"/>
            <a:ext cx="9601200" cy="493775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280" b="0">
                <a:solidFill>
                  <a:srgbClr val="EEF2F7"/>
                </a:solidFill>
              </a:defRPr>
            </a:pPr>
            <a:r>
              <a:t>Причина вибору: Створено структуру home-сторінки з фокусом на професійний контент.</a:t>
            </a:r>
          </a:p>
        </p:txBody>
      </p:sp>
      <p:sp>
        <p:nvSpPr>
          <p:cNvPr id="30" name="Oval 29"/>
          <p:cNvSpPr/>
          <p:nvPr/>
        </p:nvSpPr>
        <p:spPr>
          <a:xfrm>
            <a:off x="1152144" y="3621024"/>
            <a:ext cx="109728" cy="109728"/>
          </a:xfrm>
          <a:prstGeom prst="ellipse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380744" y="3529584"/>
            <a:ext cx="9601200" cy="493775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280" b="0">
                <a:solidFill>
                  <a:srgbClr val="EEF2F7"/>
                </a:solidFill>
              </a:defRPr>
            </a:pPr>
            <a:r>
              <a:t>Обране рішення: Додано швидкий доступ до мережі, вакансій, повідомлень і профілю.</a:t>
            </a:r>
          </a:p>
        </p:txBody>
      </p:sp>
      <p:sp>
        <p:nvSpPr>
          <p:cNvPr id="32" name="Oval 31"/>
          <p:cNvSpPr/>
          <p:nvPr/>
        </p:nvSpPr>
        <p:spPr>
          <a:xfrm>
            <a:off x="1152144" y="4151375"/>
            <a:ext cx="109728" cy="109728"/>
          </a:xfrm>
          <a:prstGeom prst="ellipse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380744" y="4059935"/>
            <a:ext cx="9601200" cy="493775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280" b="0">
                <a:solidFill>
                  <a:srgbClr val="EEF2F7"/>
                </a:solidFill>
              </a:defRPr>
            </a:pPr>
            <a:r>
              <a:t>Реалізація: Головний екран працює як стартова точка після авторизації.</a:t>
            </a:r>
          </a:p>
        </p:txBody>
      </p:sp>
      <p:sp>
        <p:nvSpPr>
          <p:cNvPr id="34" name="Oval 33"/>
          <p:cNvSpPr/>
          <p:nvPr/>
        </p:nvSpPr>
        <p:spPr>
          <a:xfrm>
            <a:off x="1152144" y="4681727"/>
            <a:ext cx="109728" cy="109728"/>
          </a:xfrm>
          <a:prstGeom prst="ellipse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380744" y="4590288"/>
            <a:ext cx="9601200" cy="493775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280" b="0">
                <a:solidFill>
                  <a:srgbClr val="EEF2F7"/>
                </a:solidFill>
              </a:defRPr>
            </a:pPr>
            <a:r>
              <a:t>Результат: Навігація допомагає показати сайт як цілісну платформу.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46920" y="320040"/>
            <a:ext cx="2286000" cy="2286000"/>
          </a:xfrm>
          <a:prstGeom prst="ellipse">
            <a:avLst/>
          </a:prstGeom>
          <a:solidFill>
            <a:srgbClr val="122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20040" y="4983480"/>
            <a:ext cx="1417320" cy="1417320"/>
          </a:xfrm>
          <a:prstGeom prst="ellipse">
            <a:avLst/>
          </a:prstGeom>
          <a:solidFill>
            <a:srgbClr val="1618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0080"/>
            <a:ext cx="1219169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18872"/>
            <a:ext cx="420624" cy="384048"/>
          </a:xfrm>
          <a:prstGeom prst="roundRect">
            <a:avLst/>
          </a:prstGeom>
          <a:solidFill>
            <a:srgbClr val="0A66C2"/>
          </a:solidFill>
          <a:ln>
            <a:solidFill>
              <a:srgbClr val="0A66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" y="173736"/>
            <a:ext cx="1417320" cy="22860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100" b="1">
                <a:solidFill>
                  <a:srgbClr val="EEF2F7"/>
                </a:solidFill>
              </a:defRPr>
            </a:pPr>
            <a:r>
              <a:t>LinkedIn Clone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331720" y="128016"/>
            <a:ext cx="1481328" cy="256032"/>
          </a:xfrm>
          <a:prstGeom prst="roundRect">
            <a:avLst/>
          </a:prstGeom>
          <a:solidFill>
            <a:srgbClr val="C4B5FD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41824"/>
                </a:solidFill>
              </a:defRPr>
            </a:pPr>
            <a:r>
              <a:t>Головна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922776" y="128016"/>
            <a:ext cx="1481328" cy="256032"/>
          </a:xfrm>
          <a:prstGeom prst="roundRect">
            <a:avLst/>
          </a:prstGeom>
          <a:solidFill>
            <a:srgbClr val="1B26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94A3B8"/>
                </a:solidFill>
              </a:defRPr>
            </a:pPr>
            <a:r>
              <a:t>Мережа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513832" y="128016"/>
            <a:ext cx="1481328" cy="256032"/>
          </a:xfrm>
          <a:prstGeom prst="roundRect">
            <a:avLst/>
          </a:prstGeom>
          <a:solidFill>
            <a:srgbClr val="1B26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94A3B8"/>
                </a:solidFill>
              </a:defRPr>
            </a:pPr>
            <a:r>
              <a:t>Вакансії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04888" y="128016"/>
            <a:ext cx="1481328" cy="256032"/>
          </a:xfrm>
          <a:prstGeom prst="roundRect">
            <a:avLst/>
          </a:prstGeom>
          <a:solidFill>
            <a:srgbClr val="1B26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94A3B8"/>
                </a:solidFill>
              </a:defRPr>
            </a:pPr>
            <a:r>
              <a:t>Чат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95944" y="128016"/>
            <a:ext cx="1481328" cy="256032"/>
          </a:xfrm>
          <a:prstGeom prst="roundRect">
            <a:avLst/>
          </a:prstGeom>
          <a:solidFill>
            <a:srgbClr val="1B26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94A3B8"/>
                </a:solidFill>
              </a:defRPr>
            </a:pPr>
            <a:r>
              <a:t>Профіль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6693408"/>
            <a:ext cx="10071400" cy="164592"/>
          </a:xfrm>
          <a:prstGeom prst="rect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6684264"/>
            <a:ext cx="2103120" cy="10972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</a:defRPr>
            </a:pPr>
            <a:r>
              <a:t>LinkedIn Diplom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47120" y="6684264"/>
            <a:ext cx="822960" cy="10972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r">
              <a:defRPr sz="800" b="0">
                <a:solidFill>
                  <a:srgbClr val="94A3B8"/>
                </a:solidFill>
              </a:defRPr>
            </a:pPr>
            <a:r>
              <a:t>19/23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786384"/>
            <a:ext cx="10972800" cy="50292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2400" b="1">
                <a:solidFill>
                  <a:srgbClr val="EEF2F7"/>
                </a:solidFill>
              </a:defRPr>
            </a:pPr>
            <a:r>
              <a:t>18. Звіт: Андрій Ротарь: контентна стрічка (Feed)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726119" y="1417320"/>
            <a:ext cx="2880360" cy="1005840"/>
          </a:xfrm>
          <a:prstGeom prst="roundRect">
            <a:avLst/>
          </a:prstGeom>
          <a:solidFill>
            <a:srgbClr val="0709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689543" y="1371600"/>
            <a:ext cx="2880360" cy="1005840"/>
          </a:xfrm>
          <a:prstGeom prst="roundRect">
            <a:avLst/>
          </a:prstGeom>
          <a:solidFill>
            <a:srgbClr val="121A2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835847" y="1499616"/>
            <a:ext cx="365760" cy="365760"/>
          </a:xfrm>
          <a:prstGeom prst="ellipse">
            <a:avLst/>
          </a:prstGeom>
          <a:solidFill>
            <a:srgbClr val="34D399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04143" y="1545336"/>
            <a:ext cx="274320" cy="27432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>
              <a:defRPr sz="1700" b="1">
                <a:solidFill>
                  <a:srgbClr val="34D399"/>
                </a:solidFill>
              </a:defRPr>
            </a:pPr>
            <a: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56471" y="1536192"/>
            <a:ext cx="1920239" cy="29260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>
              <a:defRPr sz="1300" b="1">
                <a:solidFill>
                  <a:srgbClr val="EEF2F7"/>
                </a:solidFill>
              </a:defRPr>
            </a:pPr>
            <a:r>
              <a:t>Feed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35847" y="1901952"/>
            <a:ext cx="2587752" cy="420624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950" b="0">
                <a:solidFill>
                  <a:srgbClr val="94A3B8"/>
                </a:solidFill>
              </a:defRPr>
            </a:pPr>
            <a:r>
              <a:t>пости, реакції, коментарі, providers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" y="1600200"/>
            <a:ext cx="7775143" cy="84124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Обґрунтування рішення: Feed — найскладніша frontend-частина: динамічні пости, реакції та оновлення стану.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5256" y="2743200"/>
            <a:ext cx="10469880" cy="2697480"/>
          </a:xfrm>
          <a:prstGeom prst="roundRect">
            <a:avLst/>
          </a:prstGeom>
          <a:solidFill>
            <a:srgbClr val="0709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68680" y="2697480"/>
            <a:ext cx="10469880" cy="2697480"/>
          </a:xfrm>
          <a:prstGeom prst="roundRect">
            <a:avLst/>
          </a:prstGeom>
          <a:solidFill>
            <a:srgbClr val="121A2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152144" y="3090672"/>
            <a:ext cx="109728" cy="109728"/>
          </a:xfrm>
          <a:prstGeom prst="ellipse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380744" y="2999232"/>
            <a:ext cx="9601200" cy="493775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280" b="0">
                <a:solidFill>
                  <a:srgbClr val="EEF2F7"/>
                </a:solidFill>
              </a:defRPr>
            </a:pPr>
            <a:r>
              <a:t>Причина вибору: Реалізовано подачу постів у форматі професійної стрічки з composer і sidebar inbox.</a:t>
            </a:r>
          </a:p>
        </p:txBody>
      </p:sp>
      <p:sp>
        <p:nvSpPr>
          <p:cNvPr id="30" name="Oval 29"/>
          <p:cNvSpPr/>
          <p:nvPr/>
        </p:nvSpPr>
        <p:spPr>
          <a:xfrm>
            <a:off x="1152144" y="3621024"/>
            <a:ext cx="109728" cy="109728"/>
          </a:xfrm>
          <a:prstGeom prst="ellipse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380744" y="3529584"/>
            <a:ext cx="9601200" cy="493775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280" b="0">
                <a:solidFill>
                  <a:srgbClr val="EEF2F7"/>
                </a:solidFill>
              </a:defRPr>
            </a:pPr>
            <a:r>
              <a:t>Обране рішення: Додано обробку реакцій, коментарів і оновлення UI після дій користувача.</a:t>
            </a:r>
          </a:p>
        </p:txBody>
      </p:sp>
      <p:sp>
        <p:nvSpPr>
          <p:cNvPr id="32" name="Oval 31"/>
          <p:cNvSpPr/>
          <p:nvPr/>
        </p:nvSpPr>
        <p:spPr>
          <a:xfrm>
            <a:off x="1152144" y="4151375"/>
            <a:ext cx="109728" cy="109728"/>
          </a:xfrm>
          <a:prstGeom prst="ellipse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380744" y="4059935"/>
            <a:ext cx="9601200" cy="493775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280" b="0">
                <a:solidFill>
                  <a:srgbClr val="EEF2F7"/>
                </a:solidFill>
              </a:defRPr>
            </a:pPr>
            <a:r>
              <a:t>Реалізація: Стрічка синхронізується з providers і mock/API-даними без перезавантаження сторінки.</a:t>
            </a:r>
          </a:p>
        </p:txBody>
      </p:sp>
      <p:sp>
        <p:nvSpPr>
          <p:cNvPr id="34" name="Oval 33"/>
          <p:cNvSpPr/>
          <p:nvPr/>
        </p:nvSpPr>
        <p:spPr>
          <a:xfrm>
            <a:off x="1152144" y="4681727"/>
            <a:ext cx="109728" cy="109728"/>
          </a:xfrm>
          <a:prstGeom prst="ellipse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380744" y="4590288"/>
            <a:ext cx="9601200" cy="493775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280" b="0">
                <a:solidFill>
                  <a:srgbClr val="EEF2F7"/>
                </a:solidFill>
              </a:defRPr>
            </a:pPr>
            <a:r>
              <a:t>Результат: Це технічно складніший модуль, ніж статичні форми auth або profile.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46920" y="320040"/>
            <a:ext cx="2286000" cy="2286000"/>
          </a:xfrm>
          <a:prstGeom prst="ellipse">
            <a:avLst/>
          </a:prstGeom>
          <a:solidFill>
            <a:srgbClr val="122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20040" y="4983480"/>
            <a:ext cx="1417320" cy="1417320"/>
          </a:xfrm>
          <a:prstGeom prst="ellipse">
            <a:avLst/>
          </a:prstGeom>
          <a:solidFill>
            <a:srgbClr val="1618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0080"/>
            <a:ext cx="1219169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18872"/>
            <a:ext cx="420624" cy="384048"/>
          </a:xfrm>
          <a:prstGeom prst="roundRect">
            <a:avLst/>
          </a:prstGeom>
          <a:solidFill>
            <a:srgbClr val="0A66C2"/>
          </a:solidFill>
          <a:ln>
            <a:solidFill>
              <a:srgbClr val="0A66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" y="173736"/>
            <a:ext cx="1417320" cy="22860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100" b="1">
                <a:solidFill>
                  <a:srgbClr val="EEF2F7"/>
                </a:solidFill>
              </a:defRPr>
            </a:pPr>
            <a:r>
              <a:t>LinkedIn Clone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331720" y="128016"/>
            <a:ext cx="1481328" cy="256032"/>
          </a:xfrm>
          <a:prstGeom prst="roundRect">
            <a:avLst/>
          </a:prstGeom>
          <a:solidFill>
            <a:srgbClr val="1B26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94A3B8"/>
                </a:solidFill>
              </a:defRPr>
            </a:pPr>
            <a:r>
              <a:t>Головна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922776" y="128016"/>
            <a:ext cx="1481328" cy="256032"/>
          </a:xfrm>
          <a:prstGeom prst="roundRect">
            <a:avLst/>
          </a:prstGeom>
          <a:solidFill>
            <a:srgbClr val="C4B5FD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41824"/>
                </a:solidFill>
              </a:defRPr>
            </a:pPr>
            <a:r>
              <a:t>Мережа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513832" y="128016"/>
            <a:ext cx="1481328" cy="256032"/>
          </a:xfrm>
          <a:prstGeom prst="roundRect">
            <a:avLst/>
          </a:prstGeom>
          <a:solidFill>
            <a:srgbClr val="1B26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94A3B8"/>
                </a:solidFill>
              </a:defRPr>
            </a:pPr>
            <a:r>
              <a:t>Вакансії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04888" y="128016"/>
            <a:ext cx="1481328" cy="256032"/>
          </a:xfrm>
          <a:prstGeom prst="roundRect">
            <a:avLst/>
          </a:prstGeom>
          <a:solidFill>
            <a:srgbClr val="1B26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94A3B8"/>
                </a:solidFill>
              </a:defRPr>
            </a:pPr>
            <a:r>
              <a:t>Чат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95944" y="128016"/>
            <a:ext cx="1481328" cy="256032"/>
          </a:xfrm>
          <a:prstGeom prst="roundRect">
            <a:avLst/>
          </a:prstGeom>
          <a:solidFill>
            <a:srgbClr val="1B26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94A3B8"/>
                </a:solidFill>
              </a:defRPr>
            </a:pPr>
            <a:r>
              <a:t>Профіль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6693408"/>
            <a:ext cx="10601474" cy="164592"/>
          </a:xfrm>
          <a:prstGeom prst="rect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6684264"/>
            <a:ext cx="2103120" cy="10972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</a:defRPr>
            </a:pPr>
            <a:r>
              <a:t>LinkedIn Diplom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47120" y="6684264"/>
            <a:ext cx="822960" cy="10972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r">
              <a:defRPr sz="800" b="0">
                <a:solidFill>
                  <a:srgbClr val="94A3B8"/>
                </a:solidFill>
              </a:defRPr>
            </a:pPr>
            <a:r>
              <a:t>20/23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786384"/>
            <a:ext cx="10972800" cy="50292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2400" b="1">
                <a:solidFill>
                  <a:srgbClr val="EEF2F7"/>
                </a:solidFill>
              </a:defRPr>
            </a:pPr>
            <a:r>
              <a:t>19. Звіт: Андрій Ротарь: архітектура Network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726119" y="1417320"/>
            <a:ext cx="2880360" cy="1005840"/>
          </a:xfrm>
          <a:prstGeom prst="roundRect">
            <a:avLst/>
          </a:prstGeom>
          <a:solidFill>
            <a:srgbClr val="0709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689543" y="1371600"/>
            <a:ext cx="2880360" cy="1005840"/>
          </a:xfrm>
          <a:prstGeom prst="roundRect">
            <a:avLst/>
          </a:prstGeom>
          <a:solidFill>
            <a:srgbClr val="121A2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835847" y="1499616"/>
            <a:ext cx="365760" cy="365760"/>
          </a:xfrm>
          <a:prstGeom prst="ellipse">
            <a:avLst/>
          </a:prstGeom>
          <a:solidFill>
            <a:srgbClr val="FB923C"/>
          </a:solidFill>
          <a:ln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04143" y="1545336"/>
            <a:ext cx="274320" cy="27432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>
              <a:defRPr sz="1700" b="1">
                <a:solidFill>
                  <a:srgbClr val="34D399"/>
                </a:solidFill>
              </a:defRPr>
            </a:pPr>
            <a: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56471" y="1536192"/>
            <a:ext cx="1920239" cy="29260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>
              <a:defRPr sz="1300" b="1">
                <a:solidFill>
                  <a:srgbClr val="EEF2F7"/>
                </a:solidFill>
              </a:defRPr>
            </a:pPr>
            <a:r>
              <a:t>Network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35847" y="1901952"/>
            <a:ext cx="2587752" cy="420624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950" b="0">
                <a:solidFill>
                  <a:srgbClr val="94A3B8"/>
                </a:solidFill>
              </a:defRPr>
            </a:pPr>
            <a:r>
              <a:t>контакти, groups, pages, events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" y="1600200"/>
            <a:ext cx="7775143" cy="84124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Обґрунтування рішення: Network поєднує контакти, підписки, groups, pages і events в одній вкладці.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5256" y="2743200"/>
            <a:ext cx="10469880" cy="2697480"/>
          </a:xfrm>
          <a:prstGeom prst="roundRect">
            <a:avLst/>
          </a:prstGeom>
          <a:solidFill>
            <a:srgbClr val="0709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68680" y="2697480"/>
            <a:ext cx="10469880" cy="2697480"/>
          </a:xfrm>
          <a:prstGeom prst="roundRect">
            <a:avLst/>
          </a:prstGeom>
          <a:solidFill>
            <a:srgbClr val="121A2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152144" y="3090672"/>
            <a:ext cx="109728" cy="109728"/>
          </a:xfrm>
          <a:prstGeom prst="ellipse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380744" y="2999232"/>
            <a:ext cx="9601200" cy="493775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280" b="0">
                <a:solidFill>
                  <a:srgbClr val="EEF2F7"/>
                </a:solidFill>
              </a:defRPr>
            </a:pPr>
            <a:r>
              <a:t>Причина вибору: Побудовано структуру вкладки network з окремими підрозділами та навігацією.</a:t>
            </a:r>
          </a:p>
        </p:txBody>
      </p:sp>
      <p:sp>
        <p:nvSpPr>
          <p:cNvPr id="30" name="Oval 29"/>
          <p:cNvSpPr/>
          <p:nvPr/>
        </p:nvSpPr>
        <p:spPr>
          <a:xfrm>
            <a:off x="1152144" y="3621024"/>
            <a:ext cx="109728" cy="109728"/>
          </a:xfrm>
          <a:prstGeom prst="ellipse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380744" y="3529584"/>
            <a:ext cx="9601200" cy="493775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280" b="0">
                <a:solidFill>
                  <a:srgbClr val="EEF2F7"/>
                </a:solidFill>
              </a:defRPr>
            </a:pPr>
            <a:r>
              <a:t>Обране рішення: Реалізовано зв'язки між контактами, профілями та соціальними сутностями.</a:t>
            </a:r>
          </a:p>
        </p:txBody>
      </p:sp>
      <p:sp>
        <p:nvSpPr>
          <p:cNvPr id="32" name="Oval 31"/>
          <p:cNvSpPr/>
          <p:nvPr/>
        </p:nvSpPr>
        <p:spPr>
          <a:xfrm>
            <a:off x="1152144" y="4151375"/>
            <a:ext cx="109728" cy="109728"/>
          </a:xfrm>
          <a:prstGeom prst="ellipse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380744" y="4059935"/>
            <a:ext cx="9601200" cy="493775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280" b="0">
                <a:solidFill>
                  <a:srgbClr val="EEF2F7"/>
                </a:solidFill>
              </a:defRPr>
            </a:pPr>
            <a:r>
              <a:t>Реалізація: Groups/pages/events підсилюють відмінність LinkedIn Clone від звичайного job-board.</a:t>
            </a:r>
          </a:p>
        </p:txBody>
      </p:sp>
      <p:sp>
        <p:nvSpPr>
          <p:cNvPr id="34" name="Oval 33"/>
          <p:cNvSpPr/>
          <p:nvPr/>
        </p:nvSpPr>
        <p:spPr>
          <a:xfrm>
            <a:off x="1152144" y="4681727"/>
            <a:ext cx="109728" cy="109728"/>
          </a:xfrm>
          <a:prstGeom prst="ellipse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380744" y="4590288"/>
            <a:ext cx="9601200" cy="493775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280" b="0">
                <a:solidFill>
                  <a:srgbClr val="EEF2F7"/>
                </a:solidFill>
              </a:defRPr>
            </a:pPr>
            <a:r>
              <a:t>Результат: Модуль показує архітектурну складність frontend, а не лише візуальний дизайн.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46920" y="320040"/>
            <a:ext cx="2286000" cy="2286000"/>
          </a:xfrm>
          <a:prstGeom prst="ellipse">
            <a:avLst/>
          </a:prstGeom>
          <a:solidFill>
            <a:srgbClr val="122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20040" y="4983480"/>
            <a:ext cx="1417320" cy="1417320"/>
          </a:xfrm>
          <a:prstGeom prst="ellipse">
            <a:avLst/>
          </a:prstGeom>
          <a:solidFill>
            <a:srgbClr val="1618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0080"/>
            <a:ext cx="1219169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18872"/>
            <a:ext cx="420624" cy="384048"/>
          </a:xfrm>
          <a:prstGeom prst="roundRect">
            <a:avLst/>
          </a:prstGeom>
          <a:solidFill>
            <a:srgbClr val="0A66C2"/>
          </a:solidFill>
          <a:ln>
            <a:solidFill>
              <a:srgbClr val="0A66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" y="173736"/>
            <a:ext cx="1417320" cy="22860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100" b="1">
                <a:solidFill>
                  <a:srgbClr val="EEF2F7"/>
                </a:solidFill>
              </a:defRPr>
            </a:pPr>
            <a:r>
              <a:t>LinkedIn Clone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331720" y="128016"/>
            <a:ext cx="1481328" cy="256032"/>
          </a:xfrm>
          <a:prstGeom prst="roundRect">
            <a:avLst/>
          </a:prstGeom>
          <a:solidFill>
            <a:srgbClr val="C4B5FD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41824"/>
                </a:solidFill>
              </a:defRPr>
            </a:pPr>
            <a:r>
              <a:t>Головна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922776" y="128016"/>
            <a:ext cx="1481328" cy="256032"/>
          </a:xfrm>
          <a:prstGeom prst="roundRect">
            <a:avLst/>
          </a:prstGeom>
          <a:solidFill>
            <a:srgbClr val="1B26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94A3B8"/>
                </a:solidFill>
              </a:defRPr>
            </a:pPr>
            <a:r>
              <a:t>Мережа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513832" y="128016"/>
            <a:ext cx="1481328" cy="256032"/>
          </a:xfrm>
          <a:prstGeom prst="roundRect">
            <a:avLst/>
          </a:prstGeom>
          <a:solidFill>
            <a:srgbClr val="1B26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94A3B8"/>
                </a:solidFill>
              </a:defRPr>
            </a:pPr>
            <a:r>
              <a:t>Вакансії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04888" y="128016"/>
            <a:ext cx="1481328" cy="256032"/>
          </a:xfrm>
          <a:prstGeom prst="roundRect">
            <a:avLst/>
          </a:prstGeom>
          <a:solidFill>
            <a:srgbClr val="1B26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94A3B8"/>
                </a:solidFill>
              </a:defRPr>
            </a:pPr>
            <a:r>
              <a:t>Чат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95944" y="128016"/>
            <a:ext cx="1481328" cy="256032"/>
          </a:xfrm>
          <a:prstGeom prst="roundRect">
            <a:avLst/>
          </a:prstGeom>
          <a:solidFill>
            <a:srgbClr val="1B26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94A3B8"/>
                </a:solidFill>
              </a:defRPr>
            </a:pPr>
            <a:r>
              <a:t>Профіль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6693408"/>
            <a:ext cx="11131547" cy="164592"/>
          </a:xfrm>
          <a:prstGeom prst="rect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6684264"/>
            <a:ext cx="2103120" cy="10972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</a:defRPr>
            </a:pPr>
            <a:r>
              <a:t>LinkedIn Diplom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47120" y="6684264"/>
            <a:ext cx="822960" cy="10972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r">
              <a:defRPr sz="800" b="0">
                <a:solidFill>
                  <a:srgbClr val="94A3B8"/>
                </a:solidFill>
              </a:defRPr>
            </a:pPr>
            <a:r>
              <a:t>21/23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786384"/>
            <a:ext cx="10972800" cy="50292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2400" b="1">
                <a:solidFill>
                  <a:srgbClr val="EEF2F7"/>
                </a:solidFill>
              </a:defRPr>
            </a:pPr>
            <a:r>
              <a:t>20. Звіт: Андрій Ротарь: API-клієнт і demo-режим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726119" y="1417320"/>
            <a:ext cx="2880360" cy="1005840"/>
          </a:xfrm>
          <a:prstGeom prst="roundRect">
            <a:avLst/>
          </a:prstGeom>
          <a:solidFill>
            <a:srgbClr val="0709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689543" y="1371600"/>
            <a:ext cx="2880360" cy="1005840"/>
          </a:xfrm>
          <a:prstGeom prst="roundRect">
            <a:avLst/>
          </a:prstGeom>
          <a:solidFill>
            <a:srgbClr val="121A2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835847" y="1499616"/>
            <a:ext cx="365760" cy="365760"/>
          </a:xfrm>
          <a:prstGeom prst="ellipse">
            <a:avLst/>
          </a:prstGeom>
          <a:solidFill>
            <a:srgbClr val="0A66C2"/>
          </a:solidFill>
          <a:ln>
            <a:solidFill>
              <a:srgbClr val="0A66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04143" y="1545336"/>
            <a:ext cx="274320" cy="27432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>
              <a:defRPr sz="1700" b="1">
                <a:solidFill>
                  <a:srgbClr val="34D399"/>
                </a:solidFill>
              </a:defRPr>
            </a:pPr>
            <a: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56471" y="1536192"/>
            <a:ext cx="1920239" cy="29260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>
              <a:defRPr sz="1300" b="1">
                <a:solidFill>
                  <a:srgbClr val="EEF2F7"/>
                </a:solidFill>
              </a:defRPr>
            </a:pPr>
            <a:r>
              <a:t>Api-Клієнт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35847" y="1901952"/>
            <a:ext cx="2587752" cy="420624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950" b="0">
                <a:solidFill>
                  <a:srgbClr val="94A3B8"/>
                </a:solidFill>
              </a:defRPr>
            </a:pPr>
            <a:r>
              <a:t>api-клієнт і demo-режим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" y="1600200"/>
            <a:ext cx="7775143" cy="84124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Обґрунтування рішення: На захисті — demo-режим з fallback; API-клієнт готовий до підключення backend.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5256" y="2743200"/>
            <a:ext cx="10469880" cy="2697480"/>
          </a:xfrm>
          <a:prstGeom prst="roundRect">
            <a:avLst/>
          </a:prstGeom>
          <a:solidFill>
            <a:srgbClr val="0709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68680" y="2697480"/>
            <a:ext cx="10469880" cy="2697480"/>
          </a:xfrm>
          <a:prstGeom prst="roundRect">
            <a:avLst/>
          </a:prstGeom>
          <a:solidFill>
            <a:srgbClr val="121A2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152144" y="3090672"/>
            <a:ext cx="109728" cy="109728"/>
          </a:xfrm>
          <a:prstGeom prst="ellipse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380744" y="2999232"/>
            <a:ext cx="9601200" cy="493775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280" b="0">
                <a:solidFill>
                  <a:srgbClr val="EEF2F7"/>
                </a:solidFill>
              </a:defRPr>
            </a:pPr>
            <a:r>
              <a:t>Причина вибору: Social demo і fallback-дані гарантують стабільну демонстрацію без залежності від сервера.</a:t>
            </a:r>
          </a:p>
        </p:txBody>
      </p:sp>
      <p:sp>
        <p:nvSpPr>
          <p:cNvPr id="30" name="Oval 29"/>
          <p:cNvSpPr/>
          <p:nvPr/>
        </p:nvSpPr>
        <p:spPr>
          <a:xfrm>
            <a:off x="1152144" y="3621024"/>
            <a:ext cx="109728" cy="109728"/>
          </a:xfrm>
          <a:prstGeom prst="ellipse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380744" y="3529584"/>
            <a:ext cx="9601200" cy="493775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280" b="0">
                <a:solidFill>
                  <a:srgbClr val="EEF2F7"/>
                </a:solidFill>
              </a:defRPr>
            </a:pPr>
            <a:r>
              <a:t>Обране рішення: Створено структуру API-клієнта та proxy для майбутньої backend-інтеграції.</a:t>
            </a:r>
          </a:p>
        </p:txBody>
      </p:sp>
      <p:sp>
        <p:nvSpPr>
          <p:cNvPr id="32" name="Oval 31"/>
          <p:cNvSpPr/>
          <p:nvPr/>
        </p:nvSpPr>
        <p:spPr>
          <a:xfrm>
            <a:off x="1152144" y="4151375"/>
            <a:ext cx="109728" cy="109728"/>
          </a:xfrm>
          <a:prstGeom prst="ellipse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380744" y="4059935"/>
            <a:ext cx="9601200" cy="493775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280" b="0">
                <a:solidFill>
                  <a:srgbClr val="EEF2F7"/>
                </a:solidFill>
              </a:defRPr>
            </a:pPr>
            <a:r>
              <a:t>Реалізація: Механізм оновлення сесії є в коді, але live refresh на захисті не показуємо.</a:t>
            </a:r>
          </a:p>
        </p:txBody>
      </p:sp>
      <p:sp>
        <p:nvSpPr>
          <p:cNvPr id="34" name="Oval 33"/>
          <p:cNvSpPr/>
          <p:nvPr/>
        </p:nvSpPr>
        <p:spPr>
          <a:xfrm>
            <a:off x="1152144" y="4681727"/>
            <a:ext cx="109728" cy="109728"/>
          </a:xfrm>
          <a:prstGeom prst="ellipse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380744" y="4590288"/>
            <a:ext cx="9601200" cy="493775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280" b="0">
                <a:solidFill>
                  <a:srgbClr val="EEF2F7"/>
                </a:solidFill>
              </a:defRPr>
            </a:pPr>
            <a:r>
              <a:t>Результат: Backend-баги — зона backend-команди; frontend-шар готовий до підключення.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46920" y="320040"/>
            <a:ext cx="2286000" cy="2286000"/>
          </a:xfrm>
          <a:prstGeom prst="ellipse">
            <a:avLst/>
          </a:prstGeom>
          <a:solidFill>
            <a:srgbClr val="122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20040" y="4983480"/>
            <a:ext cx="1417320" cy="1417320"/>
          </a:xfrm>
          <a:prstGeom prst="ellipse">
            <a:avLst/>
          </a:prstGeom>
          <a:solidFill>
            <a:srgbClr val="1618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0080"/>
            <a:ext cx="1219169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18872"/>
            <a:ext cx="420624" cy="384048"/>
          </a:xfrm>
          <a:prstGeom prst="roundRect">
            <a:avLst/>
          </a:prstGeom>
          <a:solidFill>
            <a:srgbClr val="0A66C2"/>
          </a:solidFill>
          <a:ln>
            <a:solidFill>
              <a:srgbClr val="0A66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" y="173736"/>
            <a:ext cx="1417320" cy="22860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100" b="1">
                <a:solidFill>
                  <a:srgbClr val="EEF2F7"/>
                </a:solidFill>
              </a:defRPr>
            </a:pPr>
            <a:r>
              <a:t>LinkedIn Clone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331720" y="128016"/>
            <a:ext cx="1481328" cy="256032"/>
          </a:xfrm>
          <a:prstGeom prst="roundRect">
            <a:avLst/>
          </a:prstGeom>
          <a:solidFill>
            <a:srgbClr val="1B26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94A3B8"/>
                </a:solidFill>
              </a:defRPr>
            </a:pPr>
            <a:r>
              <a:t>Головна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922776" y="128016"/>
            <a:ext cx="1481328" cy="256032"/>
          </a:xfrm>
          <a:prstGeom prst="roundRect">
            <a:avLst/>
          </a:prstGeom>
          <a:solidFill>
            <a:srgbClr val="1B26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94A3B8"/>
                </a:solidFill>
              </a:defRPr>
            </a:pPr>
            <a:r>
              <a:t>Мережа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513832" y="128016"/>
            <a:ext cx="1481328" cy="256032"/>
          </a:xfrm>
          <a:prstGeom prst="roundRect">
            <a:avLst/>
          </a:prstGeom>
          <a:solidFill>
            <a:srgbClr val="1B26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94A3B8"/>
                </a:solidFill>
              </a:defRPr>
            </a:pPr>
            <a:r>
              <a:t>Вакансії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04888" y="128016"/>
            <a:ext cx="1481328" cy="256032"/>
          </a:xfrm>
          <a:prstGeom prst="roundRect">
            <a:avLst/>
          </a:prstGeom>
          <a:solidFill>
            <a:srgbClr val="1B26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94A3B8"/>
                </a:solidFill>
              </a:defRPr>
            </a:pPr>
            <a:r>
              <a:t>Чат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95944" y="128016"/>
            <a:ext cx="1481328" cy="256032"/>
          </a:xfrm>
          <a:prstGeom prst="roundRect">
            <a:avLst/>
          </a:prstGeom>
          <a:solidFill>
            <a:srgbClr val="1B26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94A3B8"/>
                </a:solidFill>
              </a:defRPr>
            </a:pPr>
            <a:r>
              <a:t>Профіль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6693408"/>
            <a:ext cx="11661621" cy="164592"/>
          </a:xfrm>
          <a:prstGeom prst="rect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6684264"/>
            <a:ext cx="2103120" cy="10972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</a:defRPr>
            </a:pPr>
            <a:r>
              <a:t>LinkedIn Diplom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47120" y="6684264"/>
            <a:ext cx="822960" cy="10972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r">
              <a:defRPr sz="800" b="0">
                <a:solidFill>
                  <a:srgbClr val="94A3B8"/>
                </a:solidFill>
              </a:defRPr>
            </a:pPr>
            <a:r>
              <a:t>22/23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786384"/>
            <a:ext cx="10972800" cy="50292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2400" b="1">
                <a:solidFill>
                  <a:srgbClr val="EEF2F7"/>
                </a:solidFill>
              </a:defRPr>
            </a:pPr>
            <a:r>
              <a:t>21. Звіт: Висновок по frontend-роботі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68096" y="1828800"/>
            <a:ext cx="5440680" cy="4617720"/>
          </a:xfrm>
          <a:prstGeom prst="roundRect">
            <a:avLst/>
          </a:prstGeom>
          <a:solidFill>
            <a:srgbClr val="0709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31520" y="1783080"/>
            <a:ext cx="5440680" cy="4617720"/>
          </a:xfrm>
          <a:prstGeom prst="roundRect">
            <a:avLst/>
          </a:prstGeom>
          <a:solidFill>
            <a:srgbClr val="121A2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025896" y="1828800"/>
            <a:ext cx="5440680" cy="4617720"/>
          </a:xfrm>
          <a:prstGeom prst="roundRect">
            <a:avLst/>
          </a:prstGeom>
          <a:solidFill>
            <a:srgbClr val="0709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989320" y="1783080"/>
            <a:ext cx="5440680" cy="4617720"/>
          </a:xfrm>
          <a:prstGeom prst="roundRect">
            <a:avLst/>
          </a:prstGeom>
          <a:solidFill>
            <a:srgbClr val="121A2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31520" y="1783080"/>
            <a:ext cx="5440680" cy="45720"/>
          </a:xfrm>
          <a:prstGeom prst="rect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989320" y="1783080"/>
            <a:ext cx="5440680" cy="45720"/>
          </a:xfrm>
          <a:prstGeom prst="rect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60120" y="1993392"/>
            <a:ext cx="2240280" cy="347472"/>
          </a:xfrm>
          <a:prstGeom prst="roundRect">
            <a:avLst/>
          </a:prstGeom>
          <a:solidFill>
            <a:srgbClr val="2A4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217920" y="1993392"/>
            <a:ext cx="2697480" cy="347472"/>
          </a:xfrm>
          <a:prstGeom prst="roundRect">
            <a:avLst/>
          </a:prstGeom>
          <a:solidFill>
            <a:srgbClr val="2A4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97280" y="2057400"/>
            <a:ext cx="1920240" cy="18288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</a:defRPr>
            </a:pPr>
            <a:r>
              <a:t>Причина / виконання: Що реалізовано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80" y="2057400"/>
            <a:ext cx="2651760" cy="18288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</a:defRPr>
            </a:pPr>
            <a:r>
              <a:t>Результат / висновок: Практичний результат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32688" y="2377440"/>
            <a:ext cx="5029200" cy="1173480"/>
          </a:xfrm>
          <a:prstGeom prst="roundRect">
            <a:avLst/>
          </a:prstGeom>
          <a:solidFill>
            <a:srgbClr val="1B26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87552" y="2505456"/>
            <a:ext cx="64008" cy="917448"/>
          </a:xfrm>
          <a:prstGeom prst="rect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70432" y="2450592"/>
            <a:ext cx="4617720" cy="1118616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150" b="0">
                <a:solidFill>
                  <a:srgbClr val="EEF2F7"/>
                </a:solidFill>
              </a:defRPr>
            </a:pPr>
            <a:r>
              <a:t>Звіт: Завершений frontend MVP: UI, routing, providers, demo-flow і компонентна архітектура.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32688" y="3642360"/>
            <a:ext cx="5029200" cy="1173480"/>
          </a:xfrm>
          <a:prstGeom prst="roundRect">
            <a:avLst/>
          </a:prstGeom>
          <a:solidFill>
            <a:srgbClr val="1B26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87552" y="3770375"/>
            <a:ext cx="64008" cy="917448"/>
          </a:xfrm>
          <a:prstGeom prst="rect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70432" y="3715512"/>
            <a:ext cx="4617720" cy="1118616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150" b="0">
                <a:solidFill>
                  <a:srgbClr val="EEF2F7"/>
                </a:solidFill>
              </a:defRPr>
            </a:pPr>
            <a:r>
              <a:t>Звіт: Два зони відповідальності: кандидатський UX (Тимур) і контент/мережа/API-клієнт (Андрій).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32688" y="4907280"/>
            <a:ext cx="5029200" cy="1173480"/>
          </a:xfrm>
          <a:prstGeom prst="roundRect">
            <a:avLst/>
          </a:prstGeom>
          <a:solidFill>
            <a:srgbClr val="1B26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87552" y="5035296"/>
            <a:ext cx="64008" cy="917448"/>
          </a:xfrm>
          <a:prstGeom prst="rect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70432" y="4980432"/>
            <a:ext cx="4617720" cy="1118616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150" b="0">
                <a:solidFill>
                  <a:srgbClr val="EEF2F7"/>
                </a:solidFill>
              </a:defRPr>
            </a:pPr>
            <a:r>
              <a:t>Звіт: Demo-режим забезпечує стабільну презентацію без ризику live API-помилок.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190488" y="2377440"/>
            <a:ext cx="5029200" cy="1173480"/>
          </a:xfrm>
          <a:prstGeom prst="roundRect">
            <a:avLst/>
          </a:prstGeom>
          <a:solidFill>
            <a:srgbClr val="1B26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245352" y="2505456"/>
            <a:ext cx="64008" cy="917448"/>
          </a:xfrm>
          <a:prstGeom prst="rect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28232" y="2450592"/>
            <a:ext cx="4617720" cy="1118616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150" b="0">
                <a:solidFill>
                  <a:srgbClr val="EEF2F7"/>
                </a:solidFill>
              </a:defRPr>
            </a:pPr>
            <a:r>
              <a:t>Висновок: Це не макет, а архітектурно завершений frontend-продукт з реальними сценаріями.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190488" y="3642360"/>
            <a:ext cx="5029200" cy="1173480"/>
          </a:xfrm>
          <a:prstGeom prst="roundRect">
            <a:avLst/>
          </a:prstGeom>
          <a:solidFill>
            <a:srgbClr val="1B26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45352" y="3770375"/>
            <a:ext cx="64008" cy="917448"/>
          </a:xfrm>
          <a:prstGeom prst="rect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28232" y="3715512"/>
            <a:ext cx="4617720" cy="1118616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150" b="0">
                <a:solidFill>
                  <a:srgbClr val="EEF2F7"/>
                </a:solidFill>
              </a:defRPr>
            </a:pPr>
            <a:r>
              <a:t>Висновок: Проєкт показує перевагу LinkedIn-like підходу над простими job-board.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190488" y="4907280"/>
            <a:ext cx="5029200" cy="1173480"/>
          </a:xfrm>
          <a:prstGeom prst="roundRect">
            <a:avLst/>
          </a:prstGeom>
          <a:solidFill>
            <a:srgbClr val="1B26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245352" y="5035296"/>
            <a:ext cx="64008" cy="917448"/>
          </a:xfrm>
          <a:prstGeom prst="rect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28232" y="4980432"/>
            <a:ext cx="4617720" cy="1118616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150" b="0">
                <a:solidFill>
                  <a:srgbClr val="EEF2F7"/>
                </a:solidFill>
              </a:defRPr>
            </a:pPr>
            <a:r>
              <a:t>Висновок: Frontend готовий до подальшого підключення backend після стабілізації API.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46920" y="320040"/>
            <a:ext cx="2286000" cy="2286000"/>
          </a:xfrm>
          <a:prstGeom prst="ellipse">
            <a:avLst/>
          </a:prstGeom>
          <a:solidFill>
            <a:srgbClr val="122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20040" y="4983480"/>
            <a:ext cx="1417320" cy="1417320"/>
          </a:xfrm>
          <a:prstGeom prst="ellipse">
            <a:avLst/>
          </a:prstGeom>
          <a:solidFill>
            <a:srgbClr val="1618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0080"/>
            <a:ext cx="1219169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18872"/>
            <a:ext cx="420624" cy="384048"/>
          </a:xfrm>
          <a:prstGeom prst="roundRect">
            <a:avLst/>
          </a:prstGeom>
          <a:solidFill>
            <a:srgbClr val="0A66C2"/>
          </a:solidFill>
          <a:ln>
            <a:solidFill>
              <a:srgbClr val="0A66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" y="173736"/>
            <a:ext cx="1417320" cy="22860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100" b="1">
                <a:solidFill>
                  <a:srgbClr val="EEF2F7"/>
                </a:solidFill>
              </a:defRPr>
            </a:pPr>
            <a:r>
              <a:t>LinkedIn Clone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331720" y="128016"/>
            <a:ext cx="1481328" cy="256032"/>
          </a:xfrm>
          <a:prstGeom prst="roundRect">
            <a:avLst/>
          </a:prstGeom>
          <a:solidFill>
            <a:srgbClr val="1B26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94A3B8"/>
                </a:solidFill>
              </a:defRPr>
            </a:pPr>
            <a:r>
              <a:t>Головна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922776" y="128016"/>
            <a:ext cx="1481328" cy="256032"/>
          </a:xfrm>
          <a:prstGeom prst="roundRect">
            <a:avLst/>
          </a:prstGeom>
          <a:solidFill>
            <a:srgbClr val="1B26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94A3B8"/>
                </a:solidFill>
              </a:defRPr>
            </a:pPr>
            <a:r>
              <a:t>Мережа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513832" y="128016"/>
            <a:ext cx="1481328" cy="256032"/>
          </a:xfrm>
          <a:prstGeom prst="roundRect">
            <a:avLst/>
          </a:prstGeom>
          <a:solidFill>
            <a:srgbClr val="1B26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94A3B8"/>
                </a:solidFill>
              </a:defRPr>
            </a:pPr>
            <a:r>
              <a:t>Вакансії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04888" y="128016"/>
            <a:ext cx="1481328" cy="256032"/>
          </a:xfrm>
          <a:prstGeom prst="roundRect">
            <a:avLst/>
          </a:prstGeom>
          <a:solidFill>
            <a:srgbClr val="1B26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94A3B8"/>
                </a:solidFill>
              </a:defRPr>
            </a:pPr>
            <a:r>
              <a:t>Чат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95944" y="128016"/>
            <a:ext cx="1481328" cy="256032"/>
          </a:xfrm>
          <a:prstGeom prst="roundRect">
            <a:avLst/>
          </a:prstGeom>
          <a:solidFill>
            <a:srgbClr val="1B26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94A3B8"/>
                </a:solidFill>
              </a:defRPr>
            </a:pPr>
            <a:r>
              <a:t>Профіль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6684264"/>
            <a:ext cx="2103120" cy="10972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</a:defRPr>
            </a:pPr>
            <a:r>
              <a:t>LinkedIn Diplom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47120" y="6684264"/>
            <a:ext cx="822960" cy="10972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r">
              <a:defRPr sz="800" b="0">
                <a:solidFill>
                  <a:srgbClr val="94A3B8"/>
                </a:solidFill>
              </a:defRPr>
            </a:pPr>
            <a:r>
              <a:t>23/23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1234440"/>
            <a:ext cx="10058400" cy="73152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ctr">
              <a:defRPr sz="3800" b="1">
                <a:solidFill>
                  <a:srgbClr val="FFFFFF"/>
                </a:solidFill>
              </a:defRPr>
            </a:pPr>
            <a:r>
              <a:t>22. Звіт: Підсумок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1965960"/>
            <a:ext cx="9738360" cy="41148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ctr">
              <a:defRPr sz="1700" b="0">
                <a:solidFill>
                  <a:srgbClr val="94A3B8"/>
                </a:solidFill>
              </a:defRPr>
            </a:pPr>
            <a:r>
              <a:t>Frontend MVP з demo-flow — архітектурно завершений продукт для захисту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453896" y="2834639"/>
            <a:ext cx="9326880" cy="621792"/>
          </a:xfrm>
          <a:prstGeom prst="roundRect">
            <a:avLst/>
          </a:prstGeom>
          <a:solidFill>
            <a:srgbClr val="0709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417320" y="2788920"/>
            <a:ext cx="9326880" cy="621792"/>
          </a:xfrm>
          <a:prstGeom prst="roundRect">
            <a:avLst/>
          </a:prstGeom>
          <a:solidFill>
            <a:srgbClr val="1B26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737360" y="2944368"/>
            <a:ext cx="8641080" cy="219456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350" b="0">
                <a:solidFill>
                  <a:srgbClr val="EEF2F7"/>
                </a:solidFill>
              </a:defRPr>
            </a:pPr>
            <a:r>
              <a:t>Підсумковий висновок: LinkedIn Clone — це frontend MVP професійної екосистеми, а не окремий job-board.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453896" y="3657599"/>
            <a:ext cx="9326880" cy="621792"/>
          </a:xfrm>
          <a:prstGeom prst="roundRect">
            <a:avLst/>
          </a:prstGeom>
          <a:solidFill>
            <a:srgbClr val="0709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417320" y="3611879"/>
            <a:ext cx="9326880" cy="621792"/>
          </a:xfrm>
          <a:prstGeom prst="roundRect">
            <a:avLst/>
          </a:prstGeom>
          <a:solidFill>
            <a:srgbClr val="1B26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737360" y="3767328"/>
            <a:ext cx="8641080" cy="219456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350" b="0">
                <a:solidFill>
                  <a:srgbClr val="EEF2F7"/>
                </a:solidFill>
              </a:defRPr>
            </a:pPr>
            <a:r>
              <a:t>Підсумковий висновок: На захисті демонструємо demo-flow через social demo та mock-дані.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453896" y="4480559"/>
            <a:ext cx="9326880" cy="621792"/>
          </a:xfrm>
          <a:prstGeom prst="roundRect">
            <a:avLst/>
          </a:prstGeom>
          <a:solidFill>
            <a:srgbClr val="0709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417320" y="4434840"/>
            <a:ext cx="9326880" cy="621792"/>
          </a:xfrm>
          <a:prstGeom prst="roundRect">
            <a:avLst/>
          </a:prstGeom>
          <a:solidFill>
            <a:srgbClr val="1B26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737360" y="4590288"/>
            <a:ext cx="8641080" cy="219456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350" b="0">
                <a:solidFill>
                  <a:srgbClr val="EEF2F7"/>
                </a:solidFill>
              </a:defRPr>
            </a:pPr>
            <a:r>
              <a:t>Підсумковий висновок: Головний результат — архітектурно завершений клієнтський шар і зрозумілий UX.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